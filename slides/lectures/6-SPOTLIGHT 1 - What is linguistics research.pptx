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webextensions/webextension1.xml" ContentType="application/vnd.ms-office.webextension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2.xml" ContentType="application/inkml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8" r:id="rId16"/>
    <p:sldId id="271" r:id="rId17"/>
    <p:sldId id="275" r:id="rId18"/>
    <p:sldId id="274" r:id="rId19"/>
    <p:sldId id="272" r:id="rId20"/>
    <p:sldId id="273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567AF"/>
    <a:srgbClr val="EDEDE5"/>
    <a:srgbClr val="EDB201"/>
    <a:srgbClr val="EB5E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54"/>
    <p:restoredTop sz="95781"/>
  </p:normalViewPr>
  <p:slideViewPr>
    <p:cSldViewPr snapToGrid="0">
      <p:cViewPr>
        <p:scale>
          <a:sx n="104" d="100"/>
          <a:sy n="104" d="100"/>
        </p:scale>
        <p:origin x="848" y="248"/>
      </p:cViewPr>
      <p:guideLst/>
    </p:cSldViewPr>
  </p:slideViewPr>
  <p:outlineViewPr>
    <p:cViewPr>
      <p:scale>
        <a:sx n="33" d="100"/>
        <a:sy n="33" d="100"/>
      </p:scale>
      <p:origin x="0" y="-1656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2T16:21:44.6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24575,'0'8'0,"0"5"0,0 7 0,0 15 0,0-7 0,0 18 0,2-11 0,7 12 0,1-12 0,13 5 0,3-13 0,9 5 0,37 1 0,-21-12 0,41 5 0,-15-11 0,-27-6 0,3 0 0,45 5 0,-47-8 0,-1 0 0,4 0 0,-4-1 0,14 1 0,15 0 0,-46-6 0,3 0 0,-10 0 0,-8 1 0,-6 1 0,-5 1 0,-4 0 0,-5-2 0,-2 0 0,-5-5 0,-4-4 0,-2-3 0,-2-3 0,2 0 0,1 1 0,1 3 0,3 1 0,2 2 0,2 1 0,2 1 0,1-1 0,3 5 0,1-1 0,5 5 0,5 5 0,4 4 0,2 4 0,1 0 0,3 3 0,-6-8 0,6 5 0,-8-7 0,6 4 0,-8-5 0,3 2 0,-7-4 0,3 4 0,-4-4 0,2 2 0,-4-4 0,-1 0 0,-1-1 0,-2 0 0,0 2 0,0-2 0,0 2 0,-2 0 0,-4-1 0,-4 3 0,-8 1 0,1-2 0,-6 5 0,4-4 0,-4 2 0,3 0 0,2 0 0,3-1 0,4-3 0,4 0 0,4-4 0,1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23:51:49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1099 906 24575,'-17'0'0,"-9"0"0,-10 0 0,-14-3 0,-6-6 0,-23-16 0,19 2 0,15 3 0,-1-2 0,-25-15 0,21 8 0,1-2 0,-23-14 0,30 12 0,3 0 0,-7-13 0,-6-16 0,11-1 0,8 1 0,7 2 0,8 10 0,7 4 0,6 6 0,2 6 0,3 5 0,0 6 0,0 9 0,0 2 0,0 5 0,0-3 0,0 3 0,0-3 0,0 5 0,0-2 0,-1 3 0,0 1 0,-2 2 0,-2 2 0,0 3 0,-4 14 0,2-2 0,-6 20 0,2-4 0,-4 15 0,2-12 0,0 6 0,4-18 0,1 3 0,3-12 0,1-2 0,2-6 0,0-3 0,2-8 0,0-10 0,2-10 0,4-13 0,0 10 0,5-10 0,-3 15 0,4-7 0,-6 11 0,0 0 0,-6 10 0,0-2 0,0 2 0,0 3 0,0-1 0,0 4 0,0-2 0,0 1 0,2 1 0,0 2 0,2 1 0,4 0 0,2 1 0,10 8 0,9 8 0,9 7 0,9 6 0,3-2 0,1 0 0,-7-5 0,-7-3 0,-6-3 0,-14-6 0,2-1 0,-14-8 0,0 1 0,-2-3 0,-2 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FAA377-AA49-324C-A810-0E22805BF1FE}" type="datetimeFigureOut">
              <a:rPr lang="en-US" smtClean="0"/>
              <a:t>9/13/26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A347CD-3DDC-FB4A-9DBA-35C758A24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392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A347CD-3DDC-FB4A-9DBA-35C758A241C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3426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Imagine that you have questions like the ones that you have on the board</a:t>
            </a:r>
          </a:p>
          <a:p>
            <a:r>
              <a:rPr lang="en-US" dirty="0"/>
              <a:t>How could we know?</a:t>
            </a:r>
          </a:p>
          <a:p>
            <a:r>
              <a:rPr lang="en-US" dirty="0"/>
              <a:t>Commit to an answer</a:t>
            </a:r>
          </a:p>
          <a:p>
            <a:endParaRPr lang="en-US" dirty="0"/>
          </a:p>
          <a:p>
            <a:r>
              <a:rPr lang="en-US" dirty="0"/>
              <a:t>Look it up </a:t>
            </a:r>
            <a:r>
              <a:rPr lang="en-US" dirty="0">
                <a:sym typeface="Wingdings" pitchFamily="2" charset="2"/>
              </a:rPr>
              <a:t> many questions for which we know the answer but so many more that we don’t know the answer to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A347CD-3DDC-FB4A-9DBA-35C758A241C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8163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Planning ahead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A347CD-3DDC-FB4A-9DBA-35C758A241C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0764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Coherent collection of research helping us understand phenomena happening in the world that our field studies’</a:t>
            </a:r>
          </a:p>
          <a:p>
            <a:endParaRPr lang="en-US" dirty="0"/>
          </a:p>
          <a:p>
            <a:r>
              <a:rPr lang="en-US" dirty="0"/>
              <a:t>Time and money and possible at all</a:t>
            </a:r>
          </a:p>
          <a:p>
            <a:endParaRPr lang="en-US" dirty="0"/>
          </a:p>
          <a:p>
            <a:r>
              <a:rPr lang="en-US" dirty="0"/>
              <a:t>More targeted = more specific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A347CD-3DDC-FB4A-9DBA-35C758A241C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4522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important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A347CD-3DDC-FB4A-9DBA-35C758A241C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685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Soda vs </a:t>
            </a:r>
            <a:r>
              <a:rPr lang="en-US" dirty="0" err="1"/>
              <a:t>soder</a:t>
            </a:r>
            <a:endParaRPr lang="en-US" dirty="0"/>
          </a:p>
          <a:p>
            <a:endParaRPr lang="en-US" dirty="0"/>
          </a:p>
          <a:p>
            <a:r>
              <a:rPr lang="en-US" dirty="0"/>
              <a:t>I say it wrong, I say bag (raised /</a:t>
            </a:r>
            <a:r>
              <a:rPr lang="en-US" dirty="0" err="1"/>
              <a:t>æ</a:t>
            </a:r>
            <a:r>
              <a:rPr lang="en-US" dirty="0"/>
              <a:t>/), most people in </a:t>
            </a:r>
            <a:r>
              <a:rPr lang="en-US" dirty="0" err="1"/>
              <a:t>minnesota</a:t>
            </a:r>
            <a:r>
              <a:rPr lang="en-US" dirty="0"/>
              <a:t> do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A347CD-3DDC-FB4A-9DBA-35C758A241C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6056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Coke ATL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A347CD-3DDC-FB4A-9DBA-35C758A241C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098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F2BF8-5818-75BD-DFB5-39856F7041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BEA4-EC7B-3C45-735E-6B82BD33A6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223FA2-35ED-912F-0F46-0A8D19B06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276A2-3FE5-6C4F-9007-EC0F15FA6E50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1A5434-0708-2DEF-0EB4-B88B684A6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29BA7C-4185-8102-D5A9-BDEB7583B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10F23-4440-4F4D-B617-1F330C5AA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755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E6F25-2641-1C63-F3FD-F26D1C324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201FF-B194-0D8A-82B0-1C6467124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EC1B3-5CD5-474C-B7DB-E68509CA6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276A2-3FE5-6C4F-9007-EC0F15FA6E50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BA6610-67A8-77F7-613C-5788EEF94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5BB6C4-4F15-E386-4D31-FFB3BCCF7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10F23-4440-4F4D-B617-1F330C5AA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946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A9EBD-C75A-D620-0369-AE2E97945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99B82B-6E4E-89EC-6717-187A8CFDED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673AD0-EB0B-5B36-A594-56572C5AA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276A2-3FE5-6C4F-9007-EC0F15FA6E50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6DF97-1A52-5996-8E7A-EFDBB2FEA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18FBAD-AB2C-046A-8076-6027179A1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10F23-4440-4F4D-B617-1F330C5AA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32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2E4A6-CE0F-3761-C099-6AE23BE04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3BAF4-443F-9EDF-0ECB-0C6BC168AD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444C02-6072-6F5D-081F-255383C0EF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7301F7-87C3-C209-5E8D-BC113E838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276A2-3FE5-6C4F-9007-EC0F15FA6E50}" type="datetimeFigureOut">
              <a:rPr lang="en-US" smtClean="0"/>
              <a:t>9/13/26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0CCBA-D912-ACEB-FBDC-C0C50B0CC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20DE89-CF41-A260-07AB-5F73488DF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10F23-4440-4F4D-B617-1F330C5AA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730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AA5A9-3E22-D5E9-93BF-7D9233A84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754641-D1F9-AE5B-F4E4-5CCBDBC582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DEE0F0-49BF-45EA-9127-335789236E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677146-35DE-B44B-2517-4B53F996A3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919963-0029-EDE2-F7BA-AF67063068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45D0D5-D6C3-8F71-7532-DB4AC87B5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276A2-3FE5-6C4F-9007-EC0F15FA6E50}" type="datetimeFigureOut">
              <a:rPr lang="en-US" smtClean="0"/>
              <a:t>9/13/26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51FF04-EF3A-6191-3E3C-1166948B8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36AE66-917E-BF6F-C7ED-286BCA156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10F23-4440-4F4D-B617-1F330C5AA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573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8C42A-F5E1-65AF-CA14-472ECCD40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B8261E-0A4A-D7C1-6CAB-7D33C3E1E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276A2-3FE5-6C4F-9007-EC0F15FA6E50}" type="datetimeFigureOut">
              <a:rPr lang="en-US" smtClean="0"/>
              <a:t>9/13/26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56B183-08AC-0FD8-A519-40FD99B75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7CF14-0B6D-C526-B9B2-222252F8A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10F23-4440-4F4D-B617-1F330C5AA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804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0A9881-E8CD-48D0-FBEE-6F55E0918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276A2-3FE5-6C4F-9007-EC0F15FA6E50}" type="datetimeFigureOut">
              <a:rPr lang="en-US" smtClean="0"/>
              <a:t>9/13/26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7F104C-8755-1CAE-39CA-3FC5F294E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5C70C9-33AD-8C7B-5B88-8320D5F4A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10F23-4440-4F4D-B617-1F330C5AA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898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E8F1F-24CB-99E8-6B6E-C0BB040EB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C77DF-BF44-0F08-1587-E389AC785E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F7A99B-8353-13D1-73A6-449067EF0B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7FBEE2-EC61-46BC-F317-BA7744F04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276A2-3FE5-6C4F-9007-EC0F15FA6E50}" type="datetimeFigureOut">
              <a:rPr lang="en-US" smtClean="0"/>
              <a:t>9/13/26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6C64DC-F3C4-B29E-7FE4-09D9F1C48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A80E29-E373-675D-9697-D3299BED0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10F23-4440-4F4D-B617-1F330C5AA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484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6E9C0-C53D-577C-C377-9626CE66B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706948-3F45-05DC-335A-C6C0740A01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BE5AA9-D564-4CC0-7621-1ED895DF40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512B8F-23DF-726E-2756-4583027FF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276A2-3FE5-6C4F-9007-EC0F15FA6E50}" type="datetimeFigureOut">
              <a:rPr lang="en-US" smtClean="0"/>
              <a:t>9/13/26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5629D5-A424-5F15-5B14-2C651094D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48B364-F771-D732-DFA0-1C7801DD6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10F23-4440-4F4D-B617-1F330C5AA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93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E3B1C-C0DF-7F4D-6B5E-F92519A5A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2C8106-EFAB-0B04-8E33-E0F527F061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CEB8CD-0397-9593-CB09-E46895170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276A2-3FE5-6C4F-9007-EC0F15FA6E50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F8216-6FBE-A21F-62D6-4335532C4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F4F558-D8F8-2C97-49AA-3A63DE83F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10F23-4440-4F4D-B617-1F330C5AA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836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C527BC-07A7-1DF9-50E8-99775E97F8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DECB9F-2AD5-2C64-51F2-F742DD41C3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34B51C-7880-EA37-DE17-0BE8A674A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276A2-3FE5-6C4F-9007-EC0F15FA6E50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08BA5-E6CF-BFEC-0DDC-ACE503C88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FB8BD8-8CF8-7704-2ACB-629828085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10F23-4440-4F4D-B617-1F330C5AA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831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F91E5B-B4D8-5319-5DBF-8EE021412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05802-7961-2E0E-EC30-2B30F4EBB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15D030-6D85-02C3-F96B-652045327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4276A2-3FE5-6C4F-9007-EC0F15FA6E50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8128A-77A9-7231-E976-A2B615E082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23AF0-BD1D-F091-6F3C-542D3D841A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E10F23-4440-4F4D-B617-1F330C5AA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205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britannica.com/topic/The-Thinker-sculpture-by-Rodin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4HLYe31MBrg?feature=oembed" TargetMode="External"/><Relationship Id="rId4" Type="http://schemas.openxmlformats.org/officeDocument/2006/relationships/image" Target="../media/image20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DAA4033F-2F09-030F-DD25-9A8BC0B935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4401" y="271388"/>
            <a:ext cx="10983198" cy="64772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B153B76-C21C-17CF-FEE2-6C3E96009E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9458" y="2267232"/>
            <a:ext cx="9423633" cy="1131093"/>
          </a:xfrm>
          <a:noFill/>
        </p:spPr>
        <p:txBody>
          <a:bodyPr anchor="ctr"/>
          <a:lstStyle/>
          <a:p>
            <a:pPr algn="l"/>
            <a:r>
              <a:rPr lang="en-US" dirty="0">
                <a:latin typeface="Franklin Gothic Book" panose="020B0503020102020204" pitchFamily="34" charset="0"/>
              </a:rPr>
              <a:t>What is linguistics research?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E5E79B-0CF4-94E5-24B7-12526CE4C5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9458" y="3314409"/>
            <a:ext cx="3433764" cy="736730"/>
          </a:xfrm>
          <a:noFill/>
        </p:spPr>
        <p:txBody>
          <a:bodyPr anchor="ctr">
            <a:normAutofit/>
          </a:bodyPr>
          <a:lstStyle/>
          <a:p>
            <a:pPr algn="l"/>
            <a:r>
              <a:rPr lang="en-US" sz="2800" dirty="0">
                <a:latin typeface="Franklin Gothic Book" panose="020B0503020102020204" pitchFamily="34" charset="0"/>
              </a:rPr>
              <a:t>LIN 211 • Spotlight 1</a:t>
            </a:r>
          </a:p>
        </p:txBody>
      </p:sp>
    </p:spTree>
    <p:extLst>
      <p:ext uri="{BB962C8B-B14F-4D97-AF65-F5344CB8AC3E}">
        <p14:creationId xmlns:p14="http://schemas.microsoft.com/office/powerpoint/2010/main" val="4025884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35028-D644-F0CF-8B30-9860BB6F8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Franklin Gothic Book" panose="020B0503020102020204" pitchFamily="34" charset="0"/>
              </a:rPr>
              <a:t>The course is structured around questions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A161547-9E48-EC17-5F77-AD80E2E437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4739845"/>
              </p:ext>
            </p:extLst>
          </p:nvPr>
        </p:nvGraphicFramePr>
        <p:xfrm>
          <a:off x="838200" y="1566673"/>
          <a:ext cx="5096256" cy="5120638"/>
        </p:xfrm>
        <a:graphic>
          <a:graphicData uri="http://schemas.openxmlformats.org/drawingml/2006/table">
            <a:tbl>
              <a:tblPr/>
              <a:tblGrid>
                <a:gridCol w="5096256">
                  <a:extLst>
                    <a:ext uri="{9D8B030D-6E8A-4147-A177-3AD203B41FA5}">
                      <a16:colId xmlns:a16="http://schemas.microsoft.com/office/drawing/2014/main" val="3369462127"/>
                    </a:ext>
                  </a:extLst>
                </a:gridCol>
              </a:tblGrid>
              <a:tr h="367887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Franklin Gothic Book" panose="020B0503020102020204" pitchFamily="34" charset="0"/>
                        </a:rPr>
                        <a:t>What is linguistics?</a:t>
                      </a:r>
                    </a:p>
                  </a:txBody>
                  <a:tcPr marL="24174" marR="24174" marT="12087" marB="12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8961618"/>
                  </a:ext>
                </a:extLst>
              </a:tr>
              <a:tr h="367887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Franklin Gothic Book" panose="020B0503020102020204" pitchFamily="34" charset="0"/>
                        </a:rPr>
                        <a:t>What is language?</a:t>
                      </a:r>
                    </a:p>
                  </a:txBody>
                  <a:tcPr marL="24174" marR="24174" marT="12087" marB="12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2346936"/>
                  </a:ext>
                </a:extLst>
              </a:tr>
              <a:tr h="367887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Franklin Gothic Book" panose="020B0503020102020204" pitchFamily="34" charset="0"/>
                        </a:rPr>
                        <a:t>How many languages are there?</a:t>
                      </a:r>
                    </a:p>
                  </a:txBody>
                  <a:tcPr marL="24174" marR="24174" marT="12087" marB="12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546436"/>
                  </a:ext>
                </a:extLst>
              </a:tr>
              <a:tr h="367887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Franklin Gothic Book" panose="020B0503020102020204" pitchFamily="34" charset="0"/>
                        </a:rPr>
                        <a:t>Where does language come from?</a:t>
                      </a:r>
                    </a:p>
                  </a:txBody>
                  <a:tcPr marL="24174" marR="24174" marT="12087" marB="12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392459"/>
                  </a:ext>
                </a:extLst>
              </a:tr>
              <a:tr h="367887">
                <a:tc>
                  <a:txBody>
                    <a:bodyPr/>
                    <a:lstStyle/>
                    <a:p>
                      <a:r>
                        <a:rPr lang="en-US" sz="1800" b="0" dirty="0">
                          <a:latin typeface="Franklin Gothic Book" panose="020B0503020102020204" pitchFamily="34" charset="0"/>
                        </a:rPr>
                        <a:t>Spotlight Lecture: What is linguistics research?</a:t>
                      </a:r>
                    </a:p>
                  </a:txBody>
                  <a:tcPr marL="24174" marR="24174" marT="12087" marB="12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1649478"/>
                  </a:ext>
                </a:extLst>
              </a:tr>
              <a:tr h="367887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Franklin Gothic Book" panose="020B0503020102020204" pitchFamily="34" charset="0"/>
                        </a:rPr>
                        <a:t>What is a word?</a:t>
                      </a:r>
                    </a:p>
                  </a:txBody>
                  <a:tcPr marL="24174" marR="24174" marT="12087" marB="12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9892780"/>
                  </a:ext>
                </a:extLst>
              </a:tr>
              <a:tr h="367887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Franklin Gothic Book" panose="020B0503020102020204" pitchFamily="34" charset="0"/>
                        </a:rPr>
                        <a:t>How do words get their meaning?</a:t>
                      </a:r>
                    </a:p>
                  </a:txBody>
                  <a:tcPr marL="24174" marR="24174" marT="12087" marB="12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478406"/>
                  </a:ext>
                </a:extLst>
              </a:tr>
              <a:tr h="367887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Franklin Gothic Book" panose="020B0503020102020204" pitchFamily="34" charset="0"/>
                        </a:rPr>
                        <a:t>Is slang legit?</a:t>
                      </a:r>
                    </a:p>
                  </a:txBody>
                  <a:tcPr marL="24174" marR="24174" marT="12087" marB="12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8303170"/>
                  </a:ext>
                </a:extLst>
              </a:tr>
              <a:tr h="367887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Franklin Gothic Book" panose="020B0503020102020204" pitchFamily="34" charset="0"/>
                        </a:rPr>
                        <a:t>Why are some words “bad words”?</a:t>
                      </a:r>
                    </a:p>
                  </a:txBody>
                  <a:tcPr marL="24174" marR="24174" marT="12087" marB="12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1505019"/>
                  </a:ext>
                </a:extLst>
              </a:tr>
              <a:tr h="367887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Franklin Gothic Book" panose="020B0503020102020204" pitchFamily="34" charset="0"/>
                        </a:rPr>
                        <a:t>Who says “pop” and why?</a:t>
                      </a:r>
                    </a:p>
                  </a:txBody>
                  <a:tcPr marL="24174" marR="24174" marT="12087" marB="12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52230"/>
                  </a:ext>
                </a:extLst>
              </a:tr>
              <a:tr h="367887">
                <a:tc>
                  <a:txBody>
                    <a:bodyPr/>
                    <a:lstStyle/>
                    <a:p>
                      <a:r>
                        <a:rPr lang="en-US" sz="1800">
                          <a:latin typeface="Franklin Gothic Book" panose="020B0503020102020204" pitchFamily="34" charset="0"/>
                        </a:rPr>
                        <a:t>Where do dialects come from?</a:t>
                      </a:r>
                    </a:p>
                  </a:txBody>
                  <a:tcPr marL="24174" marR="24174" marT="12087" marB="12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0764944"/>
                  </a:ext>
                </a:extLst>
              </a:tr>
              <a:tr h="367887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Franklin Gothic Book" panose="020B0503020102020204" pitchFamily="34" charset="0"/>
                        </a:rPr>
                        <a:t>What is the prettiest language?</a:t>
                      </a:r>
                    </a:p>
                  </a:txBody>
                  <a:tcPr marL="24174" marR="24174" marT="12087" marB="12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7538318"/>
                  </a:ext>
                </a:extLst>
              </a:tr>
              <a:tr h="70599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Franklin Gothic Book" panose="020B0503020102020204" pitchFamily="34" charset="0"/>
                        </a:rPr>
                        <a:t>Spotlight lecture: What methods and ethics of inquiry are used?</a:t>
                      </a:r>
                    </a:p>
                  </a:txBody>
                  <a:tcPr marL="24174" marR="24174" marT="12087" marB="12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073159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E55ABF7-2DEB-2726-D857-9F1ECC760B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4979280"/>
              </p:ext>
            </p:extLst>
          </p:nvPr>
        </p:nvGraphicFramePr>
        <p:xfrm>
          <a:off x="6577914" y="1566673"/>
          <a:ext cx="4394886" cy="5120640"/>
        </p:xfrm>
        <a:graphic>
          <a:graphicData uri="http://schemas.openxmlformats.org/drawingml/2006/table">
            <a:tbl>
              <a:tblPr/>
              <a:tblGrid>
                <a:gridCol w="4394886">
                  <a:extLst>
                    <a:ext uri="{9D8B030D-6E8A-4147-A177-3AD203B41FA5}">
                      <a16:colId xmlns:a16="http://schemas.microsoft.com/office/drawing/2014/main" val="457505930"/>
                    </a:ext>
                  </a:extLst>
                </a:gridCol>
              </a:tblGrid>
              <a:tr h="343229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Franklin Gothic Book" panose="020B0503020102020204" pitchFamily="34" charset="0"/>
                        </a:rPr>
                        <a:t>How do kids learn to talk?</a:t>
                      </a:r>
                    </a:p>
                  </a:txBody>
                  <a:tcPr marL="24174" marR="24174" marT="12087" marB="12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2653809"/>
                  </a:ext>
                </a:extLst>
              </a:tr>
              <a:tr h="343229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Franklin Gothic Book" panose="020B0503020102020204" pitchFamily="34" charset="0"/>
                        </a:rPr>
                        <a:t>How does bilingualism work?</a:t>
                      </a:r>
                    </a:p>
                  </a:txBody>
                  <a:tcPr marL="24174" marR="24174" marT="12087" marB="12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7875595"/>
                  </a:ext>
                </a:extLst>
              </a:tr>
              <a:tr h="343229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Franklin Gothic Book" panose="020B0503020102020204" pitchFamily="34" charset="0"/>
                        </a:rPr>
                        <a:t>Why is it hard to learn other languages?</a:t>
                      </a:r>
                    </a:p>
                  </a:txBody>
                  <a:tcPr marL="24174" marR="24174" marT="12087" marB="12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7544819"/>
                  </a:ext>
                </a:extLst>
              </a:tr>
              <a:tr h="343229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Franklin Gothic Book" panose="020B0503020102020204" pitchFamily="34" charset="0"/>
                        </a:rPr>
                        <a:t>How is writing different from speaking?</a:t>
                      </a:r>
                    </a:p>
                  </a:txBody>
                  <a:tcPr marL="24174" marR="24174" marT="12087" marB="12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4158729"/>
                  </a:ext>
                </a:extLst>
              </a:tr>
              <a:tr h="343229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Franklin Gothic Book" panose="020B0503020102020204" pitchFamily="34" charset="0"/>
                        </a:rPr>
                        <a:t>🤷</a:t>
                      </a:r>
                    </a:p>
                  </a:txBody>
                  <a:tcPr marL="24174" marR="24174" marT="12087" marB="12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876233"/>
                  </a:ext>
                </a:extLst>
              </a:tr>
              <a:tr h="343229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Franklin Gothic Book" panose="020B0503020102020204" pitchFamily="34" charset="0"/>
                        </a:rPr>
                        <a:t>Why can’t Siri pronounce my name?</a:t>
                      </a:r>
                    </a:p>
                  </a:txBody>
                  <a:tcPr marL="24174" marR="24174" marT="12087" marB="12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9965760"/>
                  </a:ext>
                </a:extLst>
              </a:tr>
              <a:tr h="343229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Franklin Gothic Book" panose="020B0503020102020204" pitchFamily="34" charset="0"/>
                        </a:rPr>
                        <a:t>How do computers help with language?</a:t>
                      </a:r>
                    </a:p>
                  </a:txBody>
                  <a:tcPr marL="24174" marR="24174" marT="12087" marB="12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5545599"/>
                  </a:ext>
                </a:extLst>
              </a:tr>
              <a:tr h="343229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Franklin Gothic Book" panose="020B0503020102020204" pitchFamily="34" charset="0"/>
                        </a:rPr>
                        <a:t>Are chatbots real?</a:t>
                      </a:r>
                    </a:p>
                  </a:txBody>
                  <a:tcPr marL="24174" marR="24174" marT="12087" marB="12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7612711"/>
                  </a:ext>
                </a:extLst>
              </a:tr>
              <a:tr h="658663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Franklin Gothic Book" panose="020B0503020102020204" pitchFamily="34" charset="0"/>
                        </a:rPr>
                        <a:t>Spotlight lecture: How do we find relevant linguistics sources?</a:t>
                      </a:r>
                    </a:p>
                  </a:txBody>
                  <a:tcPr marL="24174" marR="24174" marT="12087" marB="12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5206651"/>
                  </a:ext>
                </a:extLst>
              </a:tr>
              <a:tr h="343229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Franklin Gothic Book" panose="020B0503020102020204" pitchFamily="34" charset="0"/>
                        </a:rPr>
                        <a:t>Are actors good at dialects?</a:t>
                      </a:r>
                    </a:p>
                  </a:txBody>
                  <a:tcPr marL="24174" marR="24174" marT="12087" marB="12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0981540"/>
                  </a:ext>
                </a:extLst>
              </a:tr>
              <a:tr h="343229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Franklin Gothic Book" panose="020B0503020102020204" pitchFamily="34" charset="0"/>
                        </a:rPr>
                        <a:t>Can you make your own language?</a:t>
                      </a:r>
                    </a:p>
                  </a:txBody>
                  <a:tcPr marL="24174" marR="24174" marT="12087" marB="12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0534024"/>
                  </a:ext>
                </a:extLst>
              </a:tr>
              <a:tr h="343229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Franklin Gothic Book" panose="020B0503020102020204" pitchFamily="34" charset="0"/>
                        </a:rPr>
                        <a:t>Do animals use language?</a:t>
                      </a:r>
                    </a:p>
                  </a:txBody>
                  <a:tcPr marL="24174" marR="24174" marT="12087" marB="12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1245891"/>
                  </a:ext>
                </a:extLst>
              </a:tr>
              <a:tr h="343229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Franklin Gothic Book" panose="020B0503020102020204" pitchFamily="34" charset="0"/>
                        </a:rPr>
                        <a:t>Who really uses this stuff?</a:t>
                      </a:r>
                    </a:p>
                  </a:txBody>
                  <a:tcPr marL="24174" marR="24174" marT="12087" marB="12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535956"/>
                  </a:ext>
                </a:extLst>
              </a:tr>
              <a:tr h="343229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Franklin Gothic Book" panose="020B0503020102020204" pitchFamily="34" charset="0"/>
                        </a:rPr>
                        <a:t>Why Linguistics?</a:t>
                      </a:r>
                    </a:p>
                  </a:txBody>
                  <a:tcPr marL="24174" marR="24174" marT="12087" marB="12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7637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0876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D6C11-8AA3-A072-4C66-6A2779A49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3FEEA-A95F-D7BA-24B9-B28270696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7626" y="1168314"/>
            <a:ext cx="10915835" cy="1325563"/>
          </a:xfrm>
        </p:spPr>
        <p:txBody>
          <a:bodyPr/>
          <a:lstStyle/>
          <a:p>
            <a:r>
              <a:rPr lang="en-US" dirty="0">
                <a:latin typeface="News Gothic MT" panose="020B0503020103020203" pitchFamily="34" charset="0"/>
              </a:rPr>
              <a:t>Making questions approachable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73C62-7060-8427-6623-879BE79808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7627" y="2628814"/>
            <a:ext cx="10515600" cy="312943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Franklin Gothic Book" panose="020B0503020102020204" pitchFamily="34" charset="0"/>
              </a:rPr>
              <a:t>Week 1 lecture and recitation: What is linguistics?</a:t>
            </a:r>
          </a:p>
          <a:p>
            <a:pPr marL="233363" indent="0">
              <a:lnSpc>
                <a:spcPct val="100000"/>
              </a:lnSpc>
              <a:buNone/>
            </a:pPr>
            <a:r>
              <a:rPr lang="en-US" sz="2400" dirty="0">
                <a:latin typeface="Franklin Gothic Book" panose="020B0503020102020204" pitchFamily="34" charset="0"/>
              </a:rPr>
              <a:t>?? what is language? </a:t>
            </a:r>
          </a:p>
          <a:p>
            <a:pPr marL="233363" indent="0">
              <a:lnSpc>
                <a:spcPct val="100000"/>
              </a:lnSpc>
              <a:buNone/>
            </a:pPr>
            <a:r>
              <a:rPr lang="en-US" sz="2400" dirty="0">
                <a:latin typeface="Franklin Gothic Book" panose="020B0503020102020204" pitchFamily="34" charset="0"/>
              </a:rPr>
              <a:t>?? what types of language are objects of inquiry?</a:t>
            </a:r>
          </a:p>
          <a:p>
            <a:pPr marL="233363" indent="0">
              <a:lnSpc>
                <a:spcPct val="100000"/>
              </a:lnSpc>
              <a:buNone/>
            </a:pPr>
            <a:r>
              <a:rPr lang="en-US" sz="2400" dirty="0">
                <a:latin typeface="Franklin Gothic Book" panose="020B0503020102020204" pitchFamily="34" charset="0"/>
              </a:rPr>
              <a:t>?? what can language variation look like?</a:t>
            </a:r>
          </a:p>
          <a:p>
            <a:pPr marL="233363" indent="0">
              <a:lnSpc>
                <a:spcPct val="100000"/>
              </a:lnSpc>
              <a:buNone/>
            </a:pPr>
            <a:r>
              <a:rPr lang="en-US" sz="2400" dirty="0">
                <a:latin typeface="Franklin Gothic Book" panose="020B0503020102020204" pitchFamily="34" charset="0"/>
              </a:rPr>
              <a:t>?? how do/can linguists and non-linguists talk about language?</a:t>
            </a:r>
          </a:p>
          <a:p>
            <a:pPr marL="233363" indent="0">
              <a:lnSpc>
                <a:spcPct val="100000"/>
              </a:lnSpc>
              <a:buNone/>
            </a:pPr>
            <a:r>
              <a:rPr lang="en-US" sz="2400" dirty="0">
                <a:latin typeface="Franklin Gothic Book" panose="020B0503020102020204" pitchFamily="34" charset="0"/>
              </a:rPr>
              <a:t>?? what do people believe about linguistic rules/expectations?</a:t>
            </a:r>
          </a:p>
        </p:txBody>
      </p:sp>
    </p:spTree>
    <p:extLst>
      <p:ext uri="{BB962C8B-B14F-4D97-AF65-F5344CB8AC3E}">
        <p14:creationId xmlns:p14="http://schemas.microsoft.com/office/powerpoint/2010/main" val="2052128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DC7A5-6A48-A1BD-BABE-3BF7DDDCB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1F8C6789-27C0-B9E4-CFC4-896B8097AFF1}"/>
              </a:ext>
            </a:extLst>
          </p:cNvPr>
          <p:cNvGrpSpPr/>
          <p:nvPr/>
        </p:nvGrpSpPr>
        <p:grpSpPr>
          <a:xfrm>
            <a:off x="6421770" y="0"/>
            <a:ext cx="5770230" cy="3182112"/>
            <a:chOff x="6421770" y="0"/>
            <a:chExt cx="5770230" cy="3182112"/>
          </a:xfrm>
        </p:grpSpPr>
        <p:pic>
          <p:nvPicPr>
            <p:cNvPr id="1028" name="Picture 4" descr="Spotlight cartoon Images - Free Download on Magnific (formerly Freepik)">
              <a:extLst>
                <a:ext uri="{FF2B5EF4-FFF2-40B4-BE49-F238E27FC236}">
                  <a16:creationId xmlns:a16="http://schemas.microsoft.com/office/drawing/2014/main" id="{1E715A05-E389-A9B4-4E1C-E84CCEB8E16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78" t="50000" r="5155"/>
            <a:stretch/>
          </p:blipFill>
          <p:spPr bwMode="auto">
            <a:xfrm>
              <a:off x="6421770" y="0"/>
              <a:ext cx="5770230" cy="31821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5D8B7E5-8599-65BF-BB8A-A0D58BB79BC0}"/>
                </a:ext>
              </a:extLst>
            </p:cNvPr>
            <p:cNvSpPr/>
            <p:nvPr/>
          </p:nvSpPr>
          <p:spPr>
            <a:xfrm>
              <a:off x="7150608" y="0"/>
              <a:ext cx="3310128" cy="8321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4E9EFD2-09C4-8506-E87D-53BDE028F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Franklin Gothic Book" panose="020B0503020102020204" pitchFamily="34" charset="0"/>
              </a:rPr>
              <a:t>Goal #1: assignment prep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7990A-A85C-E1A9-2170-42FFF2D709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latin typeface="Franklin Gothic Book" panose="020B0503020102020204" pitchFamily="34" charset="0"/>
              </a:rPr>
              <a:t>Prepare for future projects in the course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400" dirty="0">
              <a:latin typeface="Franklin Gothic Book" panose="020B0503020102020204" pitchFamily="34" charset="0"/>
            </a:endParaRPr>
          </a:p>
          <a:p>
            <a:pPr marL="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sz="2400" dirty="0">
                <a:latin typeface="Franklin Gothic Book" panose="020B0503020102020204" pitchFamily="34" charset="0"/>
              </a:rPr>
              <a:t>Midterm project: data collection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latin typeface="Franklin Gothic Book" panose="020B0503020102020204" pitchFamily="34" charset="0"/>
              </a:rPr>
              <a:t>Final project: thinking about data collected</a:t>
            </a:r>
          </a:p>
          <a:p>
            <a:pPr marL="463550" indent="-244475">
              <a:lnSpc>
                <a:spcPct val="100000"/>
              </a:lnSpc>
            </a:pPr>
            <a:r>
              <a:rPr lang="en-US" sz="2400" dirty="0">
                <a:latin typeface="Franklin Gothic Book" panose="020B0503020102020204" pitchFamily="34" charset="0"/>
              </a:rPr>
              <a:t>Ask a research question ⟶ Spotlight 1 (linguistics research + questions) </a:t>
            </a:r>
          </a:p>
          <a:p>
            <a:pPr marL="463550" indent="-244475">
              <a:lnSpc>
                <a:spcPct val="100000"/>
              </a:lnSpc>
            </a:pPr>
            <a:r>
              <a:rPr lang="en-US" sz="2400" dirty="0">
                <a:latin typeface="Franklin Gothic Book" panose="020B0503020102020204" pitchFamily="34" charset="0"/>
              </a:rPr>
              <a:t>Propose methods ⟶ Spotlight 2 (methods and ethics) </a:t>
            </a:r>
          </a:p>
          <a:p>
            <a:pPr marL="463550" indent="-244475">
              <a:lnSpc>
                <a:spcPct val="100000"/>
              </a:lnSpc>
            </a:pPr>
            <a:r>
              <a:rPr lang="en-US" sz="2400" dirty="0">
                <a:latin typeface="Franklin Gothic Book" panose="020B0503020102020204" pitchFamily="34" charset="0"/>
              </a:rPr>
              <a:t>Find a relevant source ⟶ Spotlight 3 (finding sources) </a:t>
            </a:r>
          </a:p>
        </p:txBody>
      </p:sp>
    </p:spTree>
    <p:extLst>
      <p:ext uri="{BB962C8B-B14F-4D97-AF65-F5344CB8AC3E}">
        <p14:creationId xmlns:p14="http://schemas.microsoft.com/office/powerpoint/2010/main" val="4203143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7DCD0-A7A9-AEAE-3EE9-99009E30D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4E62-4A6B-1C69-0142-A1E49843F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Franklin Gothic Book" panose="020B0503020102020204" pitchFamily="34" charset="0"/>
              </a:rPr>
              <a:t>Goal #2: being curious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B03103F-89D1-189C-0D14-6FFCF8416181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dirty="0">
                <a:latin typeface="Franklin Gothic Book" panose="020B0503020102020204" pitchFamily="34" charset="0"/>
              </a:rPr>
              <a:t>Move away from “Getting Started”</a:t>
            </a:r>
          </a:p>
          <a:p>
            <a:pPr marL="463550" indent="-220663">
              <a:lnSpc>
                <a:spcPct val="100000"/>
              </a:lnSpc>
            </a:pPr>
            <a:r>
              <a:rPr lang="en-US" sz="2400" dirty="0">
                <a:latin typeface="Franklin Gothic Book" panose="020B0503020102020204" pitchFamily="34" charset="0"/>
              </a:rPr>
              <a:t>How can I apply course concepts?</a:t>
            </a:r>
          </a:p>
          <a:p>
            <a:pPr marL="0" indent="0">
              <a:lnSpc>
                <a:spcPct val="100000"/>
              </a:lnSpc>
              <a:spcBef>
                <a:spcPts val="2800"/>
              </a:spcBef>
              <a:buFont typeface="Arial" panose="020B0604020202020204" pitchFamily="34" charset="0"/>
              <a:buNone/>
            </a:pPr>
            <a:r>
              <a:rPr lang="en-US" dirty="0">
                <a:latin typeface="Franklin Gothic Book" panose="020B0503020102020204" pitchFamily="34" charset="0"/>
              </a:rPr>
              <a:t>What’s involved in starting (linguistics) research?</a:t>
            </a:r>
          </a:p>
          <a:p>
            <a:pPr marL="463550" indent="-220663">
              <a:lnSpc>
                <a:spcPct val="100000"/>
              </a:lnSpc>
            </a:pPr>
            <a:r>
              <a:rPr lang="en-US" sz="2400" dirty="0">
                <a:latin typeface="Franklin Gothic Book" panose="020B0503020102020204" pitchFamily="34" charset="0"/>
              </a:rPr>
              <a:t>How do I use concepts to make richer observations?</a:t>
            </a:r>
          </a:p>
          <a:p>
            <a:pPr marL="0" indent="0">
              <a:lnSpc>
                <a:spcPct val="100000"/>
              </a:lnSpc>
              <a:spcBef>
                <a:spcPts val="2800"/>
              </a:spcBef>
              <a:buFont typeface="Arial" panose="020B0604020202020204" pitchFamily="34" charset="0"/>
              <a:buNone/>
            </a:pPr>
            <a:r>
              <a:rPr lang="en-US" dirty="0">
                <a:latin typeface="Franklin Gothic Book" panose="020B0503020102020204" pitchFamily="34" charset="0"/>
              </a:rPr>
              <a:t>What are the qualities of a fruitful (linguistics) research question?</a:t>
            </a:r>
          </a:p>
          <a:p>
            <a:pPr marL="463550" indent="-220663">
              <a:lnSpc>
                <a:spcPct val="100000"/>
              </a:lnSpc>
            </a:pPr>
            <a:r>
              <a:rPr lang="en-US" sz="2400" dirty="0">
                <a:latin typeface="Franklin Gothic Book" panose="020B0503020102020204" pitchFamily="34" charset="0"/>
              </a:rPr>
              <a:t>How could I turn observations into questions?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50CAEB1-7CA5-22B4-39A6-2C41CEA14D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60156" y="2188289"/>
            <a:ext cx="2110007" cy="1644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271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91C3C-066A-08C0-41D7-A9203B799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DB8ED-F896-7336-24F2-88EE54927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Franklin Gothic Book" panose="020B0503020102020204" pitchFamily="34" charset="0"/>
              </a:rPr>
              <a:t>Ling-link...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2E5-7984-39E7-A6F1-DC3D73B821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834460" cy="1910489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latin typeface="Franklin Gothic Book" panose="020B0503020102020204" pitchFamily="34" charset="0"/>
              </a:rPr>
              <a:t>Spend 1-2 minutes jotting down questions(s) that you’ve had about language</a:t>
            </a:r>
          </a:p>
          <a:p>
            <a:pPr marL="461963" indent="-200025">
              <a:lnSpc>
                <a:spcPct val="100000"/>
              </a:lnSpc>
            </a:pPr>
            <a:r>
              <a:rPr lang="en-US" sz="2200" dirty="0">
                <a:latin typeface="Franklin Gothic Book" panose="020B0503020102020204" pitchFamily="34" charset="0"/>
              </a:rPr>
              <a:t>General (“do animals have language?”) or specific (“why does my grandma say </a:t>
            </a:r>
            <a:r>
              <a:rPr lang="en-US" sz="2200" i="1" dirty="0" err="1">
                <a:latin typeface="Franklin Gothic Book" panose="020B0503020102020204" pitchFamily="34" charset="0"/>
              </a:rPr>
              <a:t>warsh</a:t>
            </a:r>
            <a:r>
              <a:rPr lang="en-US" sz="2200" i="1" dirty="0">
                <a:latin typeface="Franklin Gothic Book" panose="020B0503020102020204" pitchFamily="34" charset="0"/>
              </a:rPr>
              <a:t>?</a:t>
            </a:r>
            <a:r>
              <a:rPr lang="en-US" sz="2200" dirty="0">
                <a:latin typeface="Franklin Gothic Book" panose="020B0503020102020204" pitchFamily="34" charset="0"/>
              </a:rPr>
              <a:t>”)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0DB779A-45FB-B606-7980-7321E3E8A1DC}"/>
              </a:ext>
            </a:extLst>
          </p:cNvPr>
          <p:cNvSpPr txBox="1">
            <a:spLocks/>
          </p:cNvSpPr>
          <p:nvPr/>
        </p:nvSpPr>
        <p:spPr>
          <a:xfrm>
            <a:off x="838200" y="3736114"/>
            <a:ext cx="7834460" cy="19104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400" dirty="0">
                <a:latin typeface="Franklin Gothic Book" panose="020B0503020102020204" pitchFamily="34" charset="0"/>
              </a:rPr>
              <a:t>Spend 2-3 minutes talking with your neighbor(s) about your inquiries</a:t>
            </a:r>
          </a:p>
          <a:p>
            <a:pPr marL="461963" indent="-200025">
              <a:lnSpc>
                <a:spcPct val="100000"/>
              </a:lnSpc>
            </a:pPr>
            <a:r>
              <a:rPr lang="en-US" sz="2200" dirty="0">
                <a:latin typeface="Franklin Gothic Book" panose="020B0503020102020204" pitchFamily="34" charset="0"/>
              </a:rPr>
              <a:t>Have you all had similar questions or ideas?</a:t>
            </a:r>
          </a:p>
          <a:p>
            <a:pPr marL="461963" indent="-200025">
              <a:lnSpc>
                <a:spcPct val="100000"/>
              </a:lnSpc>
            </a:pPr>
            <a:r>
              <a:rPr lang="en-US" sz="2200" dirty="0">
                <a:latin typeface="Franklin Gothic Book" panose="020B0503020102020204" pitchFamily="34" charset="0"/>
              </a:rPr>
              <a:t>How might you go about answering your question</a:t>
            </a:r>
            <a:r>
              <a:rPr lang="en-US" sz="2400" dirty="0">
                <a:latin typeface="Franklin Gothic Book" panose="020B0503020102020204" pitchFamily="34" charset="0"/>
              </a:rPr>
              <a:t>?</a:t>
            </a:r>
          </a:p>
        </p:txBody>
      </p:sp>
      <p:pic>
        <p:nvPicPr>
          <p:cNvPr id="6" name="Picture 5" descr="A statue of a person thinking&#10;&#10;Description automatically generated">
            <a:hlinkClick r:id="rId2"/>
            <a:extLst>
              <a:ext uri="{FF2B5EF4-FFF2-40B4-BE49-F238E27FC236}">
                <a16:creationId xmlns:a16="http://schemas.microsoft.com/office/drawing/2014/main" id="{69882B5B-5744-E031-F1F2-99BC70C037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3740" y="1825625"/>
            <a:ext cx="2926479" cy="3938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930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5" name="Add-in 4">
                <a:extLst>
                  <a:ext uri="{FF2B5EF4-FFF2-40B4-BE49-F238E27FC236}">
                    <a16:creationId xmlns:a16="http://schemas.microsoft.com/office/drawing/2014/main" id="{E9080784-BB2F-5E95-BE7C-EA880447A17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1980041"/>
                  </p:ext>
                </p:extLst>
              </p:nvPr>
            </p:nvGraphicFramePr>
            <p:xfrm>
              <a:off x="1853513" y="0"/>
              <a:ext cx="10338485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5" name="Add-in 4">
                <a:extLst>
                  <a:ext uri="{FF2B5EF4-FFF2-40B4-BE49-F238E27FC236}">
                    <a16:creationId xmlns:a16="http://schemas.microsoft.com/office/drawing/2014/main" id="{E9080784-BB2F-5E95-BE7C-EA880447A17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>
                <a:clrChange>
                  <a:clrFrom>
                    <a:prstClr val="black"/>
                  </a:clrFrom>
                  <a:clrTo>
                    <a:prstClr val="black">
                      <a:alpha val="0"/>
                    </a:prstClr>
                  </a:clrTo>
                </a:clrChange>
              </a:blip>
              <a:stretch>
                <a:fillRect/>
              </a:stretch>
            </p:blipFill>
            <p:spPr>
              <a:xfrm>
                <a:off x="1853513" y="0"/>
                <a:ext cx="10338485" cy="68580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0E88C568-502C-33F0-0968-7EED9CD15F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98" y="2612626"/>
            <a:ext cx="1632748" cy="1632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761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477F6-3BCE-0C1B-9811-4FCEECFBA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C603B-206F-3032-E1DC-1EBD473E0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Franklin Gothic Book" panose="020B0503020102020204" pitchFamily="34" charset="0"/>
                <a:cs typeface="New Peninim MT" pitchFamily="2" charset="-79"/>
              </a:rPr>
              <a:t>Questions come from observations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7CC3E-F2DC-5D13-05C2-A7FC8A728E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0626" y="2101263"/>
            <a:ext cx="6098798" cy="5457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i="1" dirty="0">
                <a:latin typeface="Franklin Gothic Book" panose="020B0503020102020204" pitchFamily="34" charset="0"/>
                <a:cs typeface="New Peninim MT" pitchFamily="2" charset="-79"/>
              </a:rPr>
              <a:t>How does language influence identity?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6BE432B-8EEA-9D14-AAC5-278522883BD6}"/>
              </a:ext>
            </a:extLst>
          </p:cNvPr>
          <p:cNvSpPr txBox="1">
            <a:spLocks/>
          </p:cNvSpPr>
          <p:nvPr/>
        </p:nvSpPr>
        <p:spPr>
          <a:xfrm>
            <a:off x="1325458" y="3272097"/>
            <a:ext cx="7030673" cy="5281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i="1" dirty="0">
                <a:latin typeface="Franklin Gothic Book" panose="020B0503020102020204" pitchFamily="34" charset="0"/>
                <a:cs typeface="New Peninim MT" pitchFamily="2" charset="-79"/>
              </a:rPr>
              <a:t>How do computers impact modern language?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D4C83FB-19E2-4DDD-931E-9D8ABF278972}"/>
              </a:ext>
            </a:extLst>
          </p:cNvPr>
          <p:cNvSpPr txBox="1">
            <a:spLocks/>
          </p:cNvSpPr>
          <p:nvPr/>
        </p:nvSpPr>
        <p:spPr>
          <a:xfrm>
            <a:off x="1325458" y="4452800"/>
            <a:ext cx="6927208" cy="52811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i="1" dirty="0">
                <a:latin typeface="Franklin Gothic Book" panose="020B0503020102020204" pitchFamily="34" charset="0"/>
                <a:cs typeface="New Peninim MT" pitchFamily="2" charset="-79"/>
              </a:rPr>
              <a:t>How do people feel about how others speak?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C81D24-647D-E420-6D80-054C080757D5}"/>
              </a:ext>
            </a:extLst>
          </p:cNvPr>
          <p:cNvSpPr txBox="1"/>
          <p:nvPr/>
        </p:nvSpPr>
        <p:spPr>
          <a:xfrm>
            <a:off x="838199" y="1690688"/>
            <a:ext cx="90440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Franklin Gothic Book" panose="020B0503020102020204" pitchFamily="34" charset="0"/>
              </a:rPr>
              <a:t>“I talk differently when communicating to my friends than my professors”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B82363-8398-F68F-D276-8D3D16E5A161}"/>
              </a:ext>
            </a:extLst>
          </p:cNvPr>
          <p:cNvSpPr txBox="1"/>
          <p:nvPr/>
        </p:nvSpPr>
        <p:spPr>
          <a:xfrm>
            <a:off x="838199" y="2841210"/>
            <a:ext cx="703067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Franklin Gothic Book" panose="020B0503020102020204" pitchFamily="34" charset="0"/>
              </a:rPr>
              <a:t>“People complain about texting ruining how people speak”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B20605-F3CA-98A9-AFB2-4E54FF722B92}"/>
              </a:ext>
            </a:extLst>
          </p:cNvPr>
          <p:cNvSpPr txBox="1"/>
          <p:nvPr/>
        </p:nvSpPr>
        <p:spPr>
          <a:xfrm>
            <a:off x="799052" y="4015656"/>
            <a:ext cx="87392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Franklin Gothic Book" panose="020B0503020102020204" pitchFamily="34" charset="0"/>
              </a:rPr>
              <a:t>“[company] said that Southerners sound unprofessional when they talk”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80580A-B6AA-DDB6-9F37-8D759E35FEA9}"/>
              </a:ext>
            </a:extLst>
          </p:cNvPr>
          <p:cNvSpPr txBox="1">
            <a:spLocks/>
          </p:cNvSpPr>
          <p:nvPr/>
        </p:nvSpPr>
        <p:spPr>
          <a:xfrm>
            <a:off x="1350626" y="5657231"/>
            <a:ext cx="5184398" cy="53384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i="1" dirty="0">
                <a:latin typeface="Franklin Gothic Book" panose="020B0503020102020204" pitchFamily="34" charset="0"/>
                <a:cs typeface="New Peninim MT" pitchFamily="2" charset="-79"/>
              </a:rPr>
              <a:t>How can people process speech?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15C3F6-2AE4-A3A0-79C7-9C0E11FDB5DA}"/>
              </a:ext>
            </a:extLst>
          </p:cNvPr>
          <p:cNvSpPr txBox="1"/>
          <p:nvPr/>
        </p:nvSpPr>
        <p:spPr>
          <a:xfrm>
            <a:off x="799052" y="5212344"/>
            <a:ext cx="892378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Franklin Gothic Book" panose="020B0503020102020204" pitchFamily="34" charset="0"/>
              </a:rPr>
              <a:t>“People have vastly different experiences but can understand each other”</a:t>
            </a:r>
          </a:p>
        </p:txBody>
      </p:sp>
    </p:spTree>
    <p:extLst>
      <p:ext uri="{BB962C8B-B14F-4D97-AF65-F5344CB8AC3E}">
        <p14:creationId xmlns:p14="http://schemas.microsoft.com/office/powerpoint/2010/main" val="2401115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AB3E7-DD59-5535-201C-818D06188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13663-E1F7-8D8F-D1EA-C3C3757AB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042" y="2005389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dirty="0">
                <a:latin typeface="Franklin Gothic Book" panose="020B0503020102020204" pitchFamily="34" charset="0"/>
              </a:rPr>
              <a:t>How would we find out?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AEFA8-944E-B208-CE59-8386A72C3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6440" y="3221372"/>
            <a:ext cx="6640260" cy="1023457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US" sz="4400" dirty="0">
                <a:latin typeface="News Gothic MT" panose="020B0503020103020203" pitchFamily="34" charset="0"/>
              </a:rPr>
              <a:t>Research! </a:t>
            </a:r>
          </a:p>
        </p:txBody>
      </p:sp>
      <p:pic>
        <p:nvPicPr>
          <p:cNvPr id="2050" name="Picture 2" descr="Trumpet - Wikipedia">
            <a:extLst>
              <a:ext uri="{FF2B5EF4-FFF2-40B4-BE49-F238E27FC236}">
                <a16:creationId xmlns:a16="http://schemas.microsoft.com/office/drawing/2014/main" id="{888E3C5A-8C0C-26DB-70A4-119DC78ED2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45" b="12065"/>
          <a:stretch/>
        </p:blipFill>
        <p:spPr bwMode="auto">
          <a:xfrm>
            <a:off x="923042" y="3036814"/>
            <a:ext cx="3187684" cy="1258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8845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C76FB-21CC-DB74-009A-BD8502061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E435F2D-6558-4D59-B892-E5584717CB54}"/>
              </a:ext>
            </a:extLst>
          </p:cNvPr>
          <p:cNvSpPr/>
          <p:nvPr/>
        </p:nvSpPr>
        <p:spPr>
          <a:xfrm>
            <a:off x="841289" y="4519051"/>
            <a:ext cx="10403360" cy="966328"/>
          </a:xfrm>
          <a:prstGeom prst="roundRect">
            <a:avLst/>
          </a:prstGeom>
          <a:solidFill>
            <a:srgbClr val="6567A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797B2C2-F122-C9A4-CA37-C52B725A82DB}"/>
              </a:ext>
            </a:extLst>
          </p:cNvPr>
          <p:cNvSpPr/>
          <p:nvPr/>
        </p:nvSpPr>
        <p:spPr>
          <a:xfrm>
            <a:off x="838200" y="5657091"/>
            <a:ext cx="10403360" cy="662891"/>
          </a:xfrm>
          <a:prstGeom prst="roundRect">
            <a:avLst/>
          </a:prstGeom>
          <a:solidFill>
            <a:srgbClr val="6567A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F8B7BEA-9BB7-3B12-B255-AD8D4CFE06A5}"/>
              </a:ext>
            </a:extLst>
          </p:cNvPr>
          <p:cNvSpPr/>
          <p:nvPr/>
        </p:nvSpPr>
        <p:spPr>
          <a:xfrm>
            <a:off x="838200" y="3381011"/>
            <a:ext cx="10406449" cy="966328"/>
          </a:xfrm>
          <a:prstGeom prst="roundRect">
            <a:avLst/>
          </a:prstGeom>
          <a:solidFill>
            <a:srgbClr val="6567A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5AD513-A4E3-3347-EC0A-2B6E9DDB5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Franklin Gothic Book" panose="020B0503020102020204" pitchFamily="34" charset="0"/>
              </a:rPr>
              <a:t>What’s involved in research?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ABE28-B7AD-80CB-F01F-5A8250396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253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Franklin Gothic Book" panose="020B0503020102020204" pitchFamily="34" charset="0"/>
              </a:rPr>
              <a:t>Finding plausible explanations for questions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DB8BCFB-D9D7-9314-BF32-15E9C2E5F785}"/>
              </a:ext>
            </a:extLst>
          </p:cNvPr>
          <p:cNvSpPr txBox="1">
            <a:spLocks/>
          </p:cNvSpPr>
          <p:nvPr/>
        </p:nvSpPr>
        <p:spPr>
          <a:xfrm>
            <a:off x="838200" y="2578263"/>
            <a:ext cx="10515600" cy="6253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i="1" dirty="0">
                <a:latin typeface="Franklin Gothic Book" panose="020B0503020102020204" pitchFamily="34" charset="0"/>
              </a:rPr>
              <a:t>Many</a:t>
            </a:r>
            <a:r>
              <a:rPr lang="en-US" dirty="0">
                <a:latin typeface="Franklin Gothic Book" panose="020B0503020102020204" pitchFamily="34" charset="0"/>
              </a:rPr>
              <a:t> ways to approach doing research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2BCD244-1CE7-3B31-D0D9-14326E5D0190}"/>
              </a:ext>
            </a:extLst>
          </p:cNvPr>
          <p:cNvSpPr txBox="1">
            <a:spLocks/>
          </p:cNvSpPr>
          <p:nvPr/>
        </p:nvSpPr>
        <p:spPr>
          <a:xfrm>
            <a:off x="4893276" y="4558056"/>
            <a:ext cx="6242222" cy="9663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None/>
            </a:pPr>
            <a:r>
              <a:rPr lang="en-US" sz="2400" dirty="0">
                <a:latin typeface="Franklin Gothic Book" panose="020B0503020102020204" pitchFamily="34" charset="0"/>
              </a:rPr>
              <a:t>What are methods?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None/>
            </a:pPr>
            <a:r>
              <a:rPr lang="en-US" sz="2400" dirty="0">
                <a:latin typeface="Franklin Gothic Book" panose="020B0503020102020204" pitchFamily="34" charset="0"/>
              </a:rPr>
              <a:t>How do I do research ethically?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0BECD9C-0E5A-9DA8-D931-2B4702DEE1B1}"/>
              </a:ext>
            </a:extLst>
          </p:cNvPr>
          <p:cNvSpPr txBox="1">
            <a:spLocks/>
          </p:cNvSpPr>
          <p:nvPr/>
        </p:nvSpPr>
        <p:spPr>
          <a:xfrm>
            <a:off x="4893276" y="3438052"/>
            <a:ext cx="6460524" cy="966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400" dirty="0">
                <a:latin typeface="Franklin Gothic Book" panose="020B0503020102020204" pitchFamily="34" charset="0"/>
              </a:rPr>
              <a:t>How do I ask a question?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None/>
            </a:pPr>
            <a:r>
              <a:rPr lang="en-US" sz="2400" dirty="0">
                <a:latin typeface="Franklin Gothic Book" panose="020B0503020102020204" pitchFamily="34" charset="0"/>
              </a:rPr>
              <a:t>How do I know what questions I can be asking?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B7F03F6-7567-3804-DA3A-8EF93DB7138C}"/>
              </a:ext>
            </a:extLst>
          </p:cNvPr>
          <p:cNvSpPr txBox="1">
            <a:spLocks/>
          </p:cNvSpPr>
          <p:nvPr/>
        </p:nvSpPr>
        <p:spPr>
          <a:xfrm>
            <a:off x="838200" y="3381011"/>
            <a:ext cx="3857368" cy="966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dirty="0">
                <a:latin typeface="Franklin Gothic Book" panose="020B0503020102020204" pitchFamily="34" charset="0"/>
              </a:rPr>
              <a:t>Asking a research question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6674D5D-4BEB-DF0C-73F4-9C7670EF0096}"/>
              </a:ext>
            </a:extLst>
          </p:cNvPr>
          <p:cNvSpPr txBox="1">
            <a:spLocks/>
          </p:cNvSpPr>
          <p:nvPr/>
        </p:nvSpPr>
        <p:spPr>
          <a:xfrm>
            <a:off x="838200" y="4524743"/>
            <a:ext cx="3672016" cy="966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dirty="0">
                <a:latin typeface="Franklin Gothic Book" panose="020B0503020102020204" pitchFamily="34" charset="0"/>
              </a:rPr>
              <a:t>Selecting an appropriate method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462675D-5978-358E-5D97-1384AF1F7589}"/>
              </a:ext>
            </a:extLst>
          </p:cNvPr>
          <p:cNvSpPr txBox="1">
            <a:spLocks/>
          </p:cNvSpPr>
          <p:nvPr/>
        </p:nvSpPr>
        <p:spPr>
          <a:xfrm>
            <a:off x="838200" y="5702232"/>
            <a:ext cx="2596978" cy="48316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dirty="0">
                <a:latin typeface="Franklin Gothic Book" panose="020B0503020102020204" pitchFamily="34" charset="0"/>
              </a:rPr>
              <a:t>Contextualizing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D5197F4-2612-659A-06D0-05CDE567BC48}"/>
              </a:ext>
            </a:extLst>
          </p:cNvPr>
          <p:cNvSpPr txBox="1">
            <a:spLocks/>
          </p:cNvSpPr>
          <p:nvPr/>
        </p:nvSpPr>
        <p:spPr>
          <a:xfrm>
            <a:off x="4893276" y="5723718"/>
            <a:ext cx="6242222" cy="483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400" dirty="0">
                <a:latin typeface="Franklin Gothic Book" panose="020B0503020102020204" pitchFamily="34" charset="0"/>
              </a:rPr>
              <a:t>How do I find sources to support my research?</a:t>
            </a:r>
          </a:p>
        </p:txBody>
      </p:sp>
    </p:spTree>
    <p:extLst>
      <p:ext uri="{BB962C8B-B14F-4D97-AF65-F5344CB8AC3E}">
        <p14:creationId xmlns:p14="http://schemas.microsoft.com/office/powerpoint/2010/main" val="4034313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0F3F9-6016-6D28-C040-A137754EE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A6C9C-330E-E31A-49AB-BAAC9F91D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Franklin Gothic Book" panose="020B0503020102020204" pitchFamily="34" charset="0"/>
              </a:rPr>
              <a:t>Qualities of solid research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1F14E-DF15-2D85-BBCE-253442BA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10350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Franklin Gothic Book" panose="020B0503020102020204" pitchFamily="34" charset="0"/>
              </a:rPr>
              <a:t>Based on previous research</a:t>
            </a:r>
          </a:p>
          <a:p>
            <a:pPr marL="461963" indent="-200025"/>
            <a:r>
              <a:rPr lang="en-US" sz="2400" dirty="0">
                <a:latin typeface="Franklin Gothic Book" panose="020B0503020102020204" pitchFamily="34" charset="0"/>
              </a:rPr>
              <a:t>Why: connect to other studies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D05B9CF-2026-0038-163C-CE530175EE07}"/>
              </a:ext>
            </a:extLst>
          </p:cNvPr>
          <p:cNvSpPr txBox="1">
            <a:spLocks/>
          </p:cNvSpPr>
          <p:nvPr/>
        </p:nvSpPr>
        <p:spPr>
          <a:xfrm>
            <a:off x="838200" y="3307223"/>
            <a:ext cx="10515600" cy="1256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Franklin Gothic Book" panose="020B0503020102020204" pitchFamily="34" charset="0"/>
              </a:rPr>
              <a:t>Are practical</a:t>
            </a:r>
          </a:p>
          <a:p>
            <a:pPr marL="461963" indent="-200025"/>
            <a:r>
              <a:rPr lang="en-US" sz="2400" dirty="0">
                <a:latin typeface="Franklin Gothic Book" panose="020B0503020102020204" pitchFamily="34" charset="0"/>
              </a:rPr>
              <a:t>Why: need to be doable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250DF54-41F2-5FBE-E78E-FC39DF81B60E}"/>
              </a:ext>
            </a:extLst>
          </p:cNvPr>
          <p:cNvSpPr txBox="1">
            <a:spLocks/>
          </p:cNvSpPr>
          <p:nvPr/>
        </p:nvSpPr>
        <p:spPr>
          <a:xfrm>
            <a:off x="838200" y="4762637"/>
            <a:ext cx="10515600" cy="1256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Franklin Gothic Book" panose="020B0503020102020204" pitchFamily="34" charset="0"/>
              </a:rPr>
              <a:t>Are specific</a:t>
            </a:r>
          </a:p>
          <a:p>
            <a:pPr marL="461963" indent="-200025"/>
            <a:r>
              <a:rPr lang="en-US" sz="2400" dirty="0">
                <a:latin typeface="Franklin Gothic Book" panose="020B0503020102020204" pitchFamily="34" charset="0"/>
              </a:rPr>
              <a:t>Why: more specific = more precise answers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19FCAA39-6DE9-F19E-E9E2-D304997E54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7170" y="1589079"/>
            <a:ext cx="6254830" cy="4816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32921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1CB70-4C11-4A69-0C9F-EB46DAF89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1CA7B-5801-A829-CB79-E985AB527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Franklin Gothic Book" panose="020B0503020102020204" pitchFamily="34" charset="0"/>
              </a:rPr>
              <a:t>Where does/can research start?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4622EF6-EF7F-5607-50A5-CD88D1C96D3F}"/>
              </a:ext>
            </a:extLst>
          </p:cNvPr>
          <p:cNvSpPr txBox="1">
            <a:spLocks/>
          </p:cNvSpPr>
          <p:nvPr/>
        </p:nvSpPr>
        <p:spPr>
          <a:xfrm>
            <a:off x="838200" y="3429000"/>
            <a:ext cx="6879336" cy="2697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400" dirty="0">
                <a:latin typeface="Franklin Gothic Book" panose="020B0503020102020204" pitchFamily="34" charset="0"/>
              </a:rPr>
              <a:t>“I noticed that someone uses </a:t>
            </a:r>
            <a:r>
              <a:rPr lang="en-US" sz="2400" i="1" dirty="0">
                <a:latin typeface="Franklin Gothic Book" panose="020B0503020102020204" pitchFamily="34" charset="0"/>
              </a:rPr>
              <a:t>bubbler</a:t>
            </a:r>
            <a:r>
              <a:rPr lang="en-US" sz="2400" dirty="0">
                <a:latin typeface="Franklin Gothic Book" panose="020B0503020102020204" pitchFamily="34" charset="0"/>
              </a:rPr>
              <a:t> to refer to a water fountain... I wonder what other words might vary between people...”</a:t>
            </a:r>
          </a:p>
          <a:p>
            <a:pPr marL="0" indent="0">
              <a:lnSpc>
                <a:spcPct val="100000"/>
              </a:lnSpc>
              <a:spcBef>
                <a:spcPts val="2200"/>
              </a:spcBef>
              <a:buFont typeface="Arial" panose="020B0604020202020204" pitchFamily="34" charset="0"/>
              <a:buNone/>
            </a:pPr>
            <a:r>
              <a:rPr lang="en-US" sz="2400" dirty="0">
                <a:latin typeface="Franklin Gothic Book" panose="020B0503020102020204" pitchFamily="34" charset="0"/>
              </a:rPr>
              <a:t>“I heard someone claiming that </a:t>
            </a:r>
            <a:r>
              <a:rPr lang="en-US" sz="2400" i="1" dirty="0">
                <a:latin typeface="Franklin Gothic Book" panose="020B0503020102020204" pitchFamily="34" charset="0"/>
              </a:rPr>
              <a:t>bubbler</a:t>
            </a:r>
            <a:r>
              <a:rPr lang="en-US" sz="2400" dirty="0">
                <a:latin typeface="Franklin Gothic Book" panose="020B0503020102020204" pitchFamily="34" charset="0"/>
              </a:rPr>
              <a:t> and </a:t>
            </a:r>
            <a:r>
              <a:rPr lang="en-US" sz="2400" i="1" dirty="0">
                <a:latin typeface="Franklin Gothic Book" panose="020B0503020102020204" pitchFamily="34" charset="0"/>
              </a:rPr>
              <a:t>water fountain</a:t>
            </a:r>
            <a:r>
              <a:rPr lang="en-US" sz="2400" dirty="0">
                <a:latin typeface="Franklin Gothic Book" panose="020B0503020102020204" pitchFamily="34" charset="0"/>
              </a:rPr>
              <a:t> refer to the same thing, but I wonder if other people think about them differently...”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1B472DB-7F78-4298-D18F-175055D60E34}"/>
              </a:ext>
            </a:extLst>
          </p:cNvPr>
          <p:cNvSpPr txBox="1">
            <a:spLocks/>
          </p:cNvSpPr>
          <p:nvPr/>
        </p:nvSpPr>
        <p:spPr>
          <a:xfrm>
            <a:off x="838200" y="1796405"/>
            <a:ext cx="10939272" cy="1325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dirty="0">
                <a:latin typeface="Franklin Gothic Book" panose="020B0503020102020204" pitchFamily="34" charset="0"/>
              </a:rPr>
              <a:t>Something that we observe, read about, find interesting, find confusing, find controversial, etc. 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600" dirty="0">
                <a:latin typeface="Franklin Gothic Book" panose="020B0503020102020204" pitchFamily="34" charset="0"/>
              </a:rPr>
              <a:t>For the final project: midterm data + semester content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FDBF488-BF79-7A84-FE5F-6B6EC473F84A}"/>
              </a:ext>
            </a:extLst>
          </p:cNvPr>
          <p:cNvGrpSpPr/>
          <p:nvPr/>
        </p:nvGrpSpPr>
        <p:grpSpPr>
          <a:xfrm>
            <a:off x="7950464" y="2916099"/>
            <a:ext cx="3593292" cy="3723281"/>
            <a:chOff x="7950464" y="2916099"/>
            <a:chExt cx="3593292" cy="3723281"/>
          </a:xfrm>
        </p:grpSpPr>
        <p:pic>
          <p:nvPicPr>
            <p:cNvPr id="3082" name="Picture 10" descr="Elkay EZH2O LZS8WSVRLK Water Refilling Station, VR Bubbler W/Filter, Light  Gray">
              <a:extLst>
                <a:ext uri="{FF2B5EF4-FFF2-40B4-BE49-F238E27FC236}">
                  <a16:creationId xmlns:a16="http://schemas.microsoft.com/office/drawing/2014/main" id="{BC1C8C22-3903-9A88-2B65-4B217F935FF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93" r="14815" b="-400"/>
            <a:stretch/>
          </p:blipFill>
          <p:spPr bwMode="auto">
            <a:xfrm>
              <a:off x="9783883" y="3309683"/>
              <a:ext cx="1251154" cy="18639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74" name="Picture 2" descr="Download HD Thought Bubble Png - Thinking Bubble Png Transparent PNG Image  - NicePNG.com">
              <a:extLst>
                <a:ext uri="{FF2B5EF4-FFF2-40B4-BE49-F238E27FC236}">
                  <a16:creationId xmlns:a16="http://schemas.microsoft.com/office/drawing/2014/main" id="{8796632B-8502-C384-AF1B-1ABD452D25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50464" y="2916099"/>
              <a:ext cx="3593292" cy="37232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80" name="Picture 8" descr="Drinking fountain - Wikipedia">
              <a:extLst>
                <a:ext uri="{FF2B5EF4-FFF2-40B4-BE49-F238E27FC236}">
                  <a16:creationId xmlns:a16="http://schemas.microsoft.com/office/drawing/2014/main" id="{FBC40A2C-B37D-DACE-5897-6DA8E2FBA8E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463" t="5847" r="7680" b="7486"/>
            <a:stretch/>
          </p:blipFill>
          <p:spPr bwMode="auto">
            <a:xfrm>
              <a:off x="8431943" y="3848948"/>
              <a:ext cx="1315167" cy="10317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629601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F7CFF-498B-7CEC-19CC-C6C88D971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65313-F551-A383-FE69-008580835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News Gothic MT" panose="020B0503020103020203" pitchFamily="34" charset="0"/>
              </a:rPr>
              <a:t>Starting with observations </a:t>
            </a:r>
            <a:r>
              <a:rPr lang="en-US" sz="2400" dirty="0">
                <a:latin typeface="News Gothic MT" panose="020B0503020103020203" pitchFamily="34" charset="0"/>
              </a:rPr>
              <a:t>(from Recitation 1)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C9FEC67-9A7C-5B3A-0E64-B766F9E1B5F5}"/>
              </a:ext>
            </a:extLst>
          </p:cNvPr>
          <p:cNvSpPr txBox="1">
            <a:spLocks/>
          </p:cNvSpPr>
          <p:nvPr/>
        </p:nvSpPr>
        <p:spPr>
          <a:xfrm>
            <a:off x="838200" y="1796406"/>
            <a:ext cx="5076039" cy="44869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400" dirty="0">
                <a:latin typeface="Franklin Gothic Book" panose="020B0503020102020204" pitchFamily="34" charset="0"/>
              </a:rPr>
              <a:t>Other examples of regional variation</a:t>
            </a:r>
          </a:p>
          <a:p>
            <a:pPr marL="576263" indent="-342900">
              <a:lnSpc>
                <a:spcPct val="100000"/>
              </a:lnSpc>
              <a:spcBef>
                <a:spcPts val="400"/>
              </a:spcBef>
            </a:pPr>
            <a:r>
              <a:rPr lang="en-US" sz="2400" dirty="0">
                <a:latin typeface="Franklin Gothic Book" panose="020B0503020102020204" pitchFamily="34" charset="0"/>
              </a:rPr>
              <a:t>Pop, soda, coke</a:t>
            </a:r>
          </a:p>
          <a:p>
            <a:pPr marL="576263" indent="-342900">
              <a:lnSpc>
                <a:spcPct val="100000"/>
              </a:lnSpc>
              <a:spcBef>
                <a:spcPts val="400"/>
              </a:spcBef>
            </a:pPr>
            <a:r>
              <a:rPr lang="en-US" sz="2400" dirty="0">
                <a:latin typeface="Franklin Gothic Book" panose="020B0503020102020204" pitchFamily="34" charset="0"/>
              </a:rPr>
              <a:t>lightning bug, firefly</a:t>
            </a:r>
          </a:p>
          <a:p>
            <a:pPr marL="576263" indent="-342900">
              <a:lnSpc>
                <a:spcPct val="100000"/>
              </a:lnSpc>
              <a:spcBef>
                <a:spcPts val="400"/>
              </a:spcBef>
            </a:pPr>
            <a:r>
              <a:rPr lang="en-US" sz="2400" dirty="0">
                <a:latin typeface="Franklin Gothic Book" panose="020B0503020102020204" pitchFamily="34" charset="0"/>
              </a:rPr>
              <a:t>Roly poly, potato bug, pill bug</a:t>
            </a:r>
          </a:p>
          <a:p>
            <a:pPr marL="0" indent="0">
              <a:lnSpc>
                <a:spcPct val="100000"/>
              </a:lnSpc>
              <a:spcBef>
                <a:spcPts val="3400"/>
              </a:spcBef>
              <a:buFont typeface="Arial" panose="020B0604020202020204" pitchFamily="34" charset="0"/>
              <a:buNone/>
            </a:pPr>
            <a:r>
              <a:rPr lang="en-US" sz="2400" dirty="0">
                <a:latin typeface="Franklin Gothic Book" panose="020B0503020102020204" pitchFamily="34" charset="0"/>
              </a:rPr>
              <a:t>Including different pronunciations</a:t>
            </a:r>
          </a:p>
          <a:p>
            <a:pPr marL="576263" indent="-342900">
              <a:lnSpc>
                <a:spcPct val="100000"/>
              </a:lnSpc>
              <a:spcBef>
                <a:spcPts val="400"/>
              </a:spcBef>
            </a:pPr>
            <a:r>
              <a:rPr lang="en-US" sz="2400" dirty="0">
                <a:latin typeface="Franklin Gothic Book" panose="020B0503020102020204" pitchFamily="34" charset="0"/>
              </a:rPr>
              <a:t>Wash vs. </a:t>
            </a:r>
            <a:r>
              <a:rPr lang="en-US" sz="2400" dirty="0" err="1">
                <a:latin typeface="Franklin Gothic Book" panose="020B0503020102020204" pitchFamily="34" charset="0"/>
              </a:rPr>
              <a:t>warsh</a:t>
            </a:r>
            <a:endParaRPr lang="en-US" sz="2400" dirty="0">
              <a:latin typeface="Franklin Gothic Book" panose="020B0503020102020204" pitchFamily="34" charset="0"/>
            </a:endParaRPr>
          </a:p>
          <a:p>
            <a:pPr marL="576263" indent="-342900">
              <a:lnSpc>
                <a:spcPct val="100000"/>
              </a:lnSpc>
              <a:spcBef>
                <a:spcPts val="400"/>
              </a:spcBef>
            </a:pPr>
            <a:r>
              <a:rPr lang="en-US" sz="2400" dirty="0">
                <a:latin typeface="Franklin Gothic Book" panose="020B0503020102020204" pitchFamily="34" charset="0"/>
              </a:rPr>
              <a:t>pin = pen, pin ≠ pen</a:t>
            </a:r>
          </a:p>
          <a:p>
            <a:pPr marL="576263" indent="-342900">
              <a:lnSpc>
                <a:spcPct val="100000"/>
              </a:lnSpc>
              <a:spcBef>
                <a:spcPts val="400"/>
              </a:spcBef>
            </a:pPr>
            <a:r>
              <a:rPr lang="en-US" sz="2400" dirty="0">
                <a:latin typeface="Franklin Gothic Book" panose="020B0503020102020204" pitchFamily="34" charset="0"/>
              </a:rPr>
              <a:t>Caramel (2 vs. 3 syllables)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580001-1A81-054A-2090-43BEE7F91181}"/>
              </a:ext>
            </a:extLst>
          </p:cNvPr>
          <p:cNvSpPr txBox="1"/>
          <p:nvPr/>
        </p:nvSpPr>
        <p:spPr>
          <a:xfrm>
            <a:off x="7479792" y="2724233"/>
            <a:ext cx="456738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US" sz="3200" dirty="0">
                <a:latin typeface="Franklin Gothic Book" panose="020B0503020102020204" pitchFamily="34" charset="0"/>
              </a:rPr>
              <a:t>People speak differently</a:t>
            </a:r>
          </a:p>
          <a:p>
            <a:pPr>
              <a:spcBef>
                <a:spcPts val="1200"/>
              </a:spcBef>
            </a:pPr>
            <a:r>
              <a:rPr lang="en-US" sz="2800" dirty="0">
                <a:latin typeface="Franklin Gothic Book" panose="020B0503020102020204" pitchFamily="34" charset="0"/>
              </a:rPr>
              <a:t>In what ways? Why? What effects does this have on how people interact?</a:t>
            </a:r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90898CBB-0386-41A9-40E2-8FCEB13FF2EE}"/>
              </a:ext>
            </a:extLst>
          </p:cNvPr>
          <p:cNvSpPr/>
          <p:nvPr/>
        </p:nvSpPr>
        <p:spPr>
          <a:xfrm>
            <a:off x="5914239" y="3611879"/>
            <a:ext cx="1133856" cy="256032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7363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F3B0A-B788-A437-9AB4-667F728DC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9B60D-EB7C-2AA8-1893-FAF1BAE4C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Franklin Gothic Book" panose="020B0503020102020204" pitchFamily="34" charset="0"/>
              </a:rPr>
              <a:t>Observations ⟶ questions</a:t>
            </a:r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1E9F3B5-98FB-153D-9DD3-FEFEAAFB51B2}"/>
              </a:ext>
            </a:extLst>
          </p:cNvPr>
          <p:cNvSpPr txBox="1">
            <a:spLocks/>
          </p:cNvSpPr>
          <p:nvPr/>
        </p:nvSpPr>
        <p:spPr>
          <a:xfrm>
            <a:off x="838199" y="1796405"/>
            <a:ext cx="10671495" cy="4696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3200" dirty="0">
                <a:latin typeface="Franklin Gothic Book" panose="020B0503020102020204" pitchFamily="34" charset="0"/>
              </a:rPr>
              <a:t>Too broad: how does regional identity influence lexical variation?</a:t>
            </a:r>
          </a:p>
          <a:p>
            <a:pPr marL="0" indent="0">
              <a:lnSpc>
                <a:spcPct val="100000"/>
              </a:lnSpc>
              <a:spcBef>
                <a:spcPts val="2200"/>
              </a:spcBef>
              <a:buFont typeface="Arial" panose="020B0604020202020204" pitchFamily="34" charset="0"/>
              <a:buNone/>
            </a:pPr>
            <a:endParaRPr lang="en-US" sz="3200" dirty="0">
              <a:latin typeface="Franklin Gothic Book" panose="020B0503020102020204" pitchFamily="3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3200" dirty="0">
                <a:latin typeface="Franklin Gothic Book" panose="020B0503020102020204" pitchFamily="34" charset="0"/>
              </a:rPr>
              <a:t>☞ More optimal: </a:t>
            </a:r>
            <a:r>
              <a:rPr lang="en-US" sz="3200" b="1" i="1" dirty="0">
                <a:latin typeface="Franklin Gothic Book" panose="020B0503020102020204" pitchFamily="34" charset="0"/>
              </a:rPr>
              <a:t>where do people use different words for a carbonated beverage?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27A8F1-A10A-C47F-D527-1178C396ADB3}"/>
              </a:ext>
            </a:extLst>
          </p:cNvPr>
          <p:cNvSpPr txBox="1"/>
          <p:nvPr/>
        </p:nvSpPr>
        <p:spPr>
          <a:xfrm>
            <a:off x="2525328" y="2840161"/>
            <a:ext cx="42534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Franklin Gothic Book" panose="020B0503020102020204" pitchFamily="34" charset="0"/>
              </a:rPr>
              <a:t>what type of lexical (=word) variation?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4CEF5AF-A710-05A5-5A7B-179856A625F3}"/>
                  </a:ext>
                </a:extLst>
              </p14:cNvPr>
              <p14:cNvContentPartPr/>
              <p14:nvPr/>
            </p14:nvContentPartPr>
            <p14:xfrm>
              <a:off x="2103768" y="2806848"/>
              <a:ext cx="421560" cy="2602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4CEF5AF-A710-05A5-5A7B-179856A625F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95128" y="2798208"/>
                <a:ext cx="439200" cy="277920"/>
              </a:xfrm>
              <a:prstGeom prst="rect">
                <a:avLst/>
              </a:prstGeom>
            </p:spPr>
          </p:pic>
        </mc:Fallback>
      </mc:AlternateContent>
      <p:pic>
        <p:nvPicPr>
          <p:cNvPr id="5124" name="Picture 4" descr="Soda Can">
            <a:extLst>
              <a:ext uri="{FF2B5EF4-FFF2-40B4-BE49-F238E27FC236}">
                <a16:creationId xmlns:a16="http://schemas.microsoft.com/office/drawing/2014/main" id="{A3B4F9F3-6690-A1A9-7399-93616B9082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3407" y="4386070"/>
            <a:ext cx="3666871" cy="2389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83938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56BBC-10DB-45B2-4BAF-A4A0DE4FF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7FD6D-6794-E289-CFE6-D9DD1973C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865" y="2103437"/>
            <a:ext cx="10386270" cy="1325563"/>
          </a:xfrm>
        </p:spPr>
        <p:txBody>
          <a:bodyPr>
            <a:normAutofit/>
          </a:bodyPr>
          <a:lstStyle/>
          <a:p>
            <a:r>
              <a:rPr lang="en-US" dirty="0">
                <a:latin typeface="Franklin Gothic Book" panose="020B0503020102020204" pitchFamily="34" charset="0"/>
              </a:rPr>
              <a:t>Attendance question 9-14 (lecture day 6)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EB0D21F-864A-F249-9A78-5BB47823E8B2}"/>
              </a:ext>
            </a:extLst>
          </p:cNvPr>
          <p:cNvSpPr txBox="1">
            <a:spLocks/>
          </p:cNvSpPr>
          <p:nvPr/>
        </p:nvSpPr>
        <p:spPr>
          <a:xfrm>
            <a:off x="902865" y="3264592"/>
            <a:ext cx="10515600" cy="14902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dirty="0">
                <a:latin typeface="Franklin Gothic Book" panose="020B0503020102020204" pitchFamily="34" charset="0"/>
              </a:rPr>
              <a:t>What object with regionally varying names are we using in our example research question? Or, what is the object featured in our example research question, which has various terms?</a:t>
            </a:r>
          </a:p>
        </p:txBody>
      </p:sp>
    </p:spTree>
    <p:extLst>
      <p:ext uri="{BB962C8B-B14F-4D97-AF65-F5344CB8AC3E}">
        <p14:creationId xmlns:p14="http://schemas.microsoft.com/office/powerpoint/2010/main" val="40774408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D351F-00F3-D2B9-C5D9-58CB9A21F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F0CC0-3346-8C2E-A082-17D18789A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News Gothic MT" panose="020B0503020103020203" pitchFamily="34" charset="0"/>
              </a:rPr>
              <a:t>1. Based on previous research</a:t>
            </a:r>
          </a:p>
        </p:txBody>
      </p:sp>
      <p:pic>
        <p:nvPicPr>
          <p:cNvPr id="3" name="Google Shape;210;g32efb3d779a_0_42">
            <a:extLst>
              <a:ext uri="{FF2B5EF4-FFF2-40B4-BE49-F238E27FC236}">
                <a16:creationId xmlns:a16="http://schemas.microsoft.com/office/drawing/2014/main" id="{58AF1AC8-8A0A-2D62-CE1F-5C22268E301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1526349"/>
            <a:ext cx="7999029" cy="1976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211;g32efb3d779a_0_42">
            <a:extLst>
              <a:ext uri="{FF2B5EF4-FFF2-40B4-BE49-F238E27FC236}">
                <a16:creationId xmlns:a16="http://schemas.microsoft.com/office/drawing/2014/main" id="{1C817659-4029-034C-ED9E-164AF23409D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8200" y="3672703"/>
            <a:ext cx="5529207" cy="128970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12;g32efb3d779a_0_42">
            <a:extLst>
              <a:ext uri="{FF2B5EF4-FFF2-40B4-BE49-F238E27FC236}">
                <a16:creationId xmlns:a16="http://schemas.microsoft.com/office/drawing/2014/main" id="{22515F49-5813-6C25-2EC1-75F2F7BD6277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56530" y="3672703"/>
            <a:ext cx="5315587" cy="1289707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13;g32efb3d779a_0_42">
            <a:extLst>
              <a:ext uri="{FF2B5EF4-FFF2-40B4-BE49-F238E27FC236}">
                <a16:creationId xmlns:a16="http://schemas.microsoft.com/office/drawing/2014/main" id="{5A0E1FCA-CE97-1387-AFDD-DB8766B9921B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8200" y="5128344"/>
            <a:ext cx="5529207" cy="1289707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14;g32efb3d779a_0_42">
            <a:extLst>
              <a:ext uri="{FF2B5EF4-FFF2-40B4-BE49-F238E27FC236}">
                <a16:creationId xmlns:a16="http://schemas.microsoft.com/office/drawing/2014/main" id="{7BBCC6B0-62C8-6850-E1AD-C9480F9074F3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56530" y="5128344"/>
            <a:ext cx="5423358" cy="126287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101570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0C08E-101B-65BA-FE76-6BFEC93EA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nline Media 4" descr="Mapping How Americans Talk - Soda vs. Pop vs. Coke">
            <a:hlinkClick r:id="" action="ppaction://media"/>
            <a:extLst>
              <a:ext uri="{FF2B5EF4-FFF2-40B4-BE49-F238E27FC236}">
                <a16:creationId xmlns:a16="http://schemas.microsoft.com/office/drawing/2014/main" id="{27D6CE68-9CFD-C391-ACAF-5E82C707E719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353424" y="184444"/>
            <a:ext cx="11485152" cy="648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276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3529D-4024-D7EE-2A65-76A6EC752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48;g32efb3d779a_0_14">
            <a:extLst>
              <a:ext uri="{FF2B5EF4-FFF2-40B4-BE49-F238E27FC236}">
                <a16:creationId xmlns:a16="http://schemas.microsoft.com/office/drawing/2014/main" id="{6D8B0255-49A7-B5E0-B1CC-B51EAADBA59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50006" y="148472"/>
            <a:ext cx="9383050" cy="656105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826784-4629-DA3B-B5A8-40D5D2DAEEA7}"/>
              </a:ext>
            </a:extLst>
          </p:cNvPr>
          <p:cNvSpPr txBox="1"/>
          <p:nvPr/>
        </p:nvSpPr>
        <p:spPr>
          <a:xfrm>
            <a:off x="605373" y="4235000"/>
            <a:ext cx="147668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solidFill>
                  <a:srgbClr val="C00000"/>
                </a:solidFill>
                <a:latin typeface="News Gothic MT" panose="020B0503020103020203" pitchFamily="34" charset="0"/>
              </a:rPr>
              <a:t>Soda</a:t>
            </a:r>
          </a:p>
          <a:p>
            <a:r>
              <a:rPr lang="en-US" sz="2200" dirty="0">
                <a:solidFill>
                  <a:schemeClr val="tx2">
                    <a:lumMod val="50000"/>
                    <a:lumOff val="50000"/>
                  </a:schemeClr>
                </a:solidFill>
                <a:latin typeface="News Gothic MT" panose="020B0503020103020203" pitchFamily="34" charset="0"/>
              </a:rPr>
              <a:t>Pop</a:t>
            </a:r>
          </a:p>
          <a:p>
            <a:r>
              <a:rPr lang="en-US" sz="2200" dirty="0">
                <a:solidFill>
                  <a:schemeClr val="accent6">
                    <a:lumMod val="75000"/>
                  </a:schemeClr>
                </a:solidFill>
                <a:latin typeface="News Gothic MT" panose="020B0503020103020203" pitchFamily="34" charset="0"/>
              </a:rPr>
              <a:t>Coke</a:t>
            </a:r>
          </a:p>
          <a:p>
            <a:r>
              <a:rPr lang="en-US" sz="2200" dirty="0">
                <a:solidFill>
                  <a:srgbClr val="EDB201"/>
                </a:solidFill>
                <a:latin typeface="News Gothic MT" panose="020B0503020103020203" pitchFamily="34" charset="0"/>
              </a:rPr>
              <a:t>Soft drink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EC03F1E-87B3-AA23-1810-76C821C7BD9D}"/>
                  </a:ext>
                </a:extLst>
              </p14:cNvPr>
              <p14:cNvContentPartPr/>
              <p14:nvPr/>
            </p14:nvContentPartPr>
            <p14:xfrm>
              <a:off x="1258837" y="5681550"/>
              <a:ext cx="396000" cy="3261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EC03F1E-87B3-AA23-1810-76C821C7BD9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49837" y="5672550"/>
                <a:ext cx="413640" cy="343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258851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B4ED3-CC1B-6B70-3D00-F3B8BB7DC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D22FF-9B6D-2DE2-89BE-F91768C2D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Franklin Gothic Book" panose="020B0503020102020204" pitchFamily="34" charset="0"/>
              </a:rPr>
              <a:t>2. Practical and 3. Specific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A7D6C83-6788-8057-5D56-F94C73680217}"/>
              </a:ext>
            </a:extLst>
          </p:cNvPr>
          <p:cNvSpPr txBox="1">
            <a:spLocks/>
          </p:cNvSpPr>
          <p:nvPr/>
        </p:nvSpPr>
        <p:spPr>
          <a:xfrm>
            <a:off x="838200" y="1796405"/>
            <a:ext cx="10515600" cy="8893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dirty="0">
                <a:latin typeface="Franklin Gothic Book" panose="020B0503020102020204" pitchFamily="34" charset="0"/>
              </a:rPr>
              <a:t>Are there feasible methods for testing this?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7E3DD-BCBA-DE78-4F41-13FB26C78576}"/>
              </a:ext>
            </a:extLst>
          </p:cNvPr>
          <p:cNvSpPr txBox="1">
            <a:spLocks/>
          </p:cNvSpPr>
          <p:nvPr/>
        </p:nvSpPr>
        <p:spPr>
          <a:xfrm>
            <a:off x="838200" y="3493222"/>
            <a:ext cx="10515600" cy="8893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dirty="0">
                <a:latin typeface="Franklin Gothic Book" panose="020B0503020102020204" pitchFamily="34" charset="0"/>
              </a:rPr>
              <a:t>Is this narrowed enough to be doable?</a:t>
            </a:r>
            <a:endParaRPr lang="en-US" sz="1600" dirty="0">
              <a:latin typeface="Franklin Gothic Book" panose="020B0503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DDF7F5-5D05-165B-8EBE-C04482E000F3}"/>
              </a:ext>
            </a:extLst>
          </p:cNvPr>
          <p:cNvSpPr txBox="1"/>
          <p:nvPr/>
        </p:nvSpPr>
        <p:spPr>
          <a:xfrm>
            <a:off x="838200" y="2316416"/>
            <a:ext cx="8391336" cy="9079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6263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Franklin Gothic Book" panose="020B0503020102020204" pitchFamily="34" charset="0"/>
              </a:rPr>
              <a:t>If I needed to, could I use a specific method for answering?</a:t>
            </a:r>
          </a:p>
          <a:p>
            <a:pPr marL="576263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Franklin Gothic Book" panose="020B0503020102020204" pitchFamily="34" charset="0"/>
              </a:rPr>
              <a:t>What methods are available?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2645D5-8699-6B20-5725-917E42083EF2}"/>
              </a:ext>
            </a:extLst>
          </p:cNvPr>
          <p:cNvSpPr txBox="1"/>
          <p:nvPr/>
        </p:nvSpPr>
        <p:spPr>
          <a:xfrm>
            <a:off x="838200" y="4060865"/>
            <a:ext cx="10515600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6263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Franklin Gothic Book" panose="020B0503020102020204" pitchFamily="34" charset="0"/>
              </a:rPr>
              <a:t>Can I find methods that will let me adequately answer this question?</a:t>
            </a:r>
          </a:p>
          <a:p>
            <a:pPr marL="576263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Franklin Gothic Book" panose="020B0503020102020204" pitchFamily="34" charset="0"/>
              </a:rPr>
              <a:t>How much time do I have to research this question?</a:t>
            </a:r>
          </a:p>
          <a:p>
            <a:pPr marL="576263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Franklin Gothic Book" panose="020B0503020102020204" pitchFamily="34" charset="0"/>
              </a:rPr>
              <a:t>Would it be easier for me to answer this question if I broke it down into several smaller questions?</a:t>
            </a:r>
          </a:p>
        </p:txBody>
      </p:sp>
      <p:pic>
        <p:nvPicPr>
          <p:cNvPr id="6" name="Picture 2" descr="Ballpoint Pen PNG, Vector, PSD, and Clipart With Transparent Background for  Free Download | Pngtree">
            <a:extLst>
              <a:ext uri="{FF2B5EF4-FFF2-40B4-BE49-F238E27FC236}">
                <a16:creationId xmlns:a16="http://schemas.microsoft.com/office/drawing/2014/main" id="{12426D2F-0A57-34BD-B46B-1E0F09AEA2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0581" y="1786077"/>
            <a:ext cx="1322173" cy="1322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73419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45552-C620-BCF8-EE34-8CD88A5F1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4AB8F-239A-FE49-5C69-837E054B1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/>
          <a:lstStyle/>
          <a:p>
            <a:r>
              <a:rPr lang="en-US" dirty="0">
                <a:latin typeface="Franklin Gothic Book" panose="020B0503020102020204" pitchFamily="34" charset="0"/>
              </a:rPr>
              <a:t>Why examine variation in words for        ?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3E7F2D6C-5EF0-1D89-A80C-0B01022377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57670" y="158497"/>
            <a:ext cx="1008668" cy="1585050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B17C207-3AAE-834D-EB07-2A6145F61879}"/>
              </a:ext>
            </a:extLst>
          </p:cNvPr>
          <p:cNvSpPr txBox="1">
            <a:spLocks/>
          </p:cNvSpPr>
          <p:nvPr/>
        </p:nvSpPr>
        <p:spPr>
          <a:xfrm>
            <a:off x="838200" y="2834788"/>
            <a:ext cx="5471160" cy="19817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400" dirty="0">
                <a:latin typeface="Franklin Gothic Book" panose="020B0503020102020204" pitchFamily="34" charset="0"/>
              </a:rPr>
              <a:t>Language variation, then... </a:t>
            </a:r>
          </a:p>
          <a:p>
            <a:pPr marL="461963" indent="-200025">
              <a:lnSpc>
                <a:spcPct val="100000"/>
              </a:lnSpc>
            </a:pPr>
            <a:r>
              <a:rPr lang="en-US" sz="2400" dirty="0">
                <a:latin typeface="Franklin Gothic Book" panose="020B0503020102020204" pitchFamily="34" charset="0"/>
              </a:rPr>
              <a:t>reflects historical and cultural trends</a:t>
            </a:r>
          </a:p>
          <a:p>
            <a:pPr marL="461963" indent="-200025">
              <a:lnSpc>
                <a:spcPct val="100000"/>
              </a:lnSpc>
            </a:pPr>
            <a:r>
              <a:rPr lang="en-US" sz="2400" dirty="0">
                <a:latin typeface="Franklin Gothic Book" panose="020B0503020102020204" pitchFamily="34" charset="0"/>
              </a:rPr>
              <a:t>is personal and creative</a:t>
            </a:r>
          </a:p>
          <a:p>
            <a:pPr marL="461963" indent="-200025">
              <a:lnSpc>
                <a:spcPct val="100000"/>
              </a:lnSpc>
            </a:pPr>
            <a:r>
              <a:rPr lang="en-US" sz="2400" dirty="0">
                <a:latin typeface="Franklin Gothic Book" panose="020B0503020102020204" pitchFamily="34" charset="0"/>
              </a:rPr>
              <a:t>is natural and “normal”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CB968E8-F007-25B8-CFC5-2ABED01AA2BF}"/>
              </a:ext>
            </a:extLst>
          </p:cNvPr>
          <p:cNvSpPr txBox="1">
            <a:spLocks/>
          </p:cNvSpPr>
          <p:nvPr/>
        </p:nvSpPr>
        <p:spPr>
          <a:xfrm>
            <a:off x="838200" y="5099204"/>
            <a:ext cx="10515600" cy="9095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400" dirty="0">
                <a:latin typeface="Franklin Gothic Book" panose="020B0503020102020204" pitchFamily="34" charset="0"/>
              </a:rPr>
              <a:t>Understanding/acknowledging others’ motivations for using language differently can make us more effective and empathetic communicators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9DBB493A-D24B-3FBB-6A00-5F87C06579F1}"/>
              </a:ext>
            </a:extLst>
          </p:cNvPr>
          <p:cNvSpPr txBox="1">
            <a:spLocks/>
          </p:cNvSpPr>
          <p:nvPr/>
        </p:nvSpPr>
        <p:spPr>
          <a:xfrm>
            <a:off x="7718904" y="3429000"/>
            <a:ext cx="3886200" cy="1325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400" dirty="0">
                <a:latin typeface="Franklin Gothic Book" panose="020B0503020102020204" pitchFamily="34" charset="0"/>
              </a:rPr>
              <a:t>The ways we use language express information about who we are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C310B1-EBBB-8424-4E59-95CC22AB0A24}"/>
              </a:ext>
            </a:extLst>
          </p:cNvPr>
          <p:cNvSpPr txBox="1"/>
          <p:nvPr/>
        </p:nvSpPr>
        <p:spPr>
          <a:xfrm>
            <a:off x="838200" y="1844220"/>
            <a:ext cx="1038148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Franklin Gothic Book" panose="020B0503020102020204" pitchFamily="34" charset="0"/>
              </a:rPr>
              <a:t>“human languages are structured systems for making articulated thoughts fully explicit both internally (mentally) and externally (in a form perceptible to other humans)” (Pullum, p. 3)</a:t>
            </a:r>
          </a:p>
        </p:txBody>
      </p:sp>
    </p:spTree>
    <p:extLst>
      <p:ext uri="{BB962C8B-B14F-4D97-AF65-F5344CB8AC3E}">
        <p14:creationId xmlns:p14="http://schemas.microsoft.com/office/powerpoint/2010/main" val="36111095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B9530-07F8-2005-B1FA-C9E300777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D9E14-FD49-1DD3-8F02-1CFFE2DE5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Franklin Gothic Book" panose="020B0503020102020204" pitchFamily="34" charset="0"/>
              </a:rPr>
              <a:t>What’d we talk about?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5269C17-9301-318D-FF57-E64D51D097A7}"/>
              </a:ext>
            </a:extLst>
          </p:cNvPr>
          <p:cNvSpPr txBox="1">
            <a:spLocks/>
          </p:cNvSpPr>
          <p:nvPr/>
        </p:nvSpPr>
        <p:spPr>
          <a:xfrm>
            <a:off x="838200" y="1796405"/>
            <a:ext cx="10515600" cy="44366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400" dirty="0">
                <a:latin typeface="Franklin Gothic Book" panose="020B0503020102020204" pitchFamily="34" charset="0"/>
              </a:rPr>
              <a:t>Linguistics research asks questions across a span of topics</a:t>
            </a:r>
          </a:p>
          <a:p>
            <a:pPr marL="576263" indent="-342900">
              <a:lnSpc>
                <a:spcPct val="100000"/>
              </a:lnSpc>
              <a:spcAft>
                <a:spcPts val="1800"/>
              </a:spcAft>
            </a:pPr>
            <a:r>
              <a:rPr lang="en-US" sz="2400" dirty="0">
                <a:latin typeface="Franklin Gothic Book" panose="020B0503020102020204" pitchFamily="34" charset="0"/>
              </a:rPr>
              <a:t>Regional variation for lexical items = one of so many ways to answer a question about language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400" dirty="0">
                <a:latin typeface="Franklin Gothic Book" panose="020B0503020102020204" pitchFamily="34" charset="0"/>
              </a:rPr>
              <a:t>Appropriate research questions are</a:t>
            </a:r>
          </a:p>
          <a:p>
            <a:pPr marL="576263" indent="-342900">
              <a:lnSpc>
                <a:spcPct val="100000"/>
              </a:lnSpc>
            </a:pPr>
            <a:r>
              <a:rPr lang="en-US" sz="2400" dirty="0">
                <a:latin typeface="Franklin Gothic Book" panose="020B0503020102020204" pitchFamily="34" charset="0"/>
              </a:rPr>
              <a:t>Connected to previous research</a:t>
            </a:r>
          </a:p>
          <a:p>
            <a:pPr marL="576263" indent="-342900">
              <a:lnSpc>
                <a:spcPct val="100000"/>
              </a:lnSpc>
              <a:spcAft>
                <a:spcPts val="1800"/>
              </a:spcAft>
            </a:pPr>
            <a:r>
              <a:rPr lang="en-US" sz="2400" dirty="0">
                <a:latin typeface="Franklin Gothic Book" panose="020B0503020102020204" pitchFamily="34" charset="0"/>
              </a:rPr>
              <a:t>Practical and about specific topics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3200" b="1" i="1" dirty="0">
                <a:latin typeface="Franklin Gothic Book" panose="020B0503020102020204" pitchFamily="34" charset="0"/>
              </a:rPr>
              <a:t>Questions start with observations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F49936F-DB72-496C-4EC3-4F885BEF14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3894" y="3284314"/>
            <a:ext cx="2382851" cy="259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5647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44A1C-6ED3-2D81-9DB4-67BA4E234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8B61D-D579-91BC-A9F3-C4DDBDB20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28612"/>
            <a:ext cx="10515600" cy="1325563"/>
          </a:xfrm>
        </p:spPr>
        <p:txBody>
          <a:bodyPr/>
          <a:lstStyle/>
          <a:p>
            <a:r>
              <a:rPr lang="en-US" dirty="0">
                <a:latin typeface="Franklin Gothic Book" panose="020B0503020102020204" pitchFamily="34" charset="0"/>
              </a:rPr>
              <a:t>What’s next?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10D606B-8047-400D-CE79-2232AFC4024E}"/>
              </a:ext>
            </a:extLst>
          </p:cNvPr>
          <p:cNvSpPr txBox="1">
            <a:spLocks/>
          </p:cNvSpPr>
          <p:nvPr/>
        </p:nvSpPr>
        <p:spPr>
          <a:xfrm>
            <a:off x="838200" y="2859892"/>
            <a:ext cx="10515600" cy="33600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600"/>
              </a:spcBef>
              <a:buFont typeface="Arial" panose="020B0604020202020204" pitchFamily="34" charset="0"/>
              <a:buNone/>
            </a:pPr>
            <a:r>
              <a:rPr lang="en-US" dirty="0">
                <a:latin typeface="Franklin Gothic Book" panose="020B0503020102020204" pitchFamily="34" charset="0"/>
              </a:rPr>
              <a:t>Wednesday: What is a word? + Pullum chapter 3 (“Words, Meaning, and Thought”)</a:t>
            </a:r>
          </a:p>
          <a:p>
            <a:pPr marL="0" indent="0">
              <a:lnSpc>
                <a:spcPct val="100000"/>
              </a:lnSpc>
              <a:spcBef>
                <a:spcPts val="1600"/>
              </a:spcBef>
              <a:buFont typeface="Arial" panose="020B0604020202020204" pitchFamily="34" charset="0"/>
              <a:buNone/>
            </a:pPr>
            <a:r>
              <a:rPr lang="en-US" dirty="0">
                <a:latin typeface="Franklin Gothic Book" panose="020B0503020102020204" pitchFamily="34" charset="0"/>
              </a:rPr>
              <a:t>Friday: recitation and Quiz 3</a:t>
            </a:r>
          </a:p>
          <a:p>
            <a:pPr marL="0" indent="0">
              <a:lnSpc>
                <a:spcPct val="100000"/>
              </a:lnSpc>
              <a:spcBef>
                <a:spcPts val="1600"/>
              </a:spcBef>
              <a:buFont typeface="Arial" panose="020B0604020202020204" pitchFamily="34" charset="0"/>
              <a:buNone/>
            </a:pPr>
            <a:r>
              <a:rPr lang="en-US" dirty="0">
                <a:latin typeface="Franklin Gothic Book" panose="020B0503020102020204" pitchFamily="34" charset="0"/>
              </a:rPr>
              <a:t>The more distant future: 2) methods of inquiry and 3) finding linguistic sources</a:t>
            </a:r>
          </a:p>
        </p:txBody>
      </p:sp>
    </p:spTree>
    <p:extLst>
      <p:ext uri="{BB962C8B-B14F-4D97-AF65-F5344CB8AC3E}">
        <p14:creationId xmlns:p14="http://schemas.microsoft.com/office/powerpoint/2010/main" val="2295610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webextension1.xml><?xml version="1.0" encoding="utf-8"?>
<we:webextension xmlns:we="http://schemas.microsoft.com/office/webextensions/webextension/2010/11" id="{EDEB7033-2A2B-2A48-A374-C6BBA7FFBF5B}">
  <we:reference id="wa104381526" version="1.0.0.2" store="en-US" storeType="OMEX"/>
  <we:alternateReferences>
    <we:reference id="WA104381526" version="1.0.0.2" store="" storeType="OMEX"/>
  </we:alternateReferences>
  <we:properties>
    <we:property name="FormID" value="&quot;C1MwK7ZpV0S4GEgctT1CriIZ-cWEknVLmku2aRugqRJUNTM4Wk1HUDBZWEJRQUhQOE4yQjk5SU1BMy4u&quot;"/>
    <we:property name="FormMode" value="&quot;DesignTim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622</TotalTime>
  <Words>1237</Words>
  <Application>Microsoft Macintosh PowerPoint</Application>
  <PresentationFormat>Widescreen</PresentationFormat>
  <Paragraphs>165</Paragraphs>
  <Slides>22</Slides>
  <Notes>7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Aptos</vt:lpstr>
      <vt:lpstr>Aptos Display</vt:lpstr>
      <vt:lpstr>Arial</vt:lpstr>
      <vt:lpstr>Franklin Gothic Book</vt:lpstr>
      <vt:lpstr>News Gothic MT</vt:lpstr>
      <vt:lpstr>Wingdings</vt:lpstr>
      <vt:lpstr>Office Theme</vt:lpstr>
      <vt:lpstr>What is linguistics research?</vt:lpstr>
      <vt:lpstr>The course is structured around questions</vt:lpstr>
      <vt:lpstr>Making questions approachable</vt:lpstr>
      <vt:lpstr>Goal #1: assignment prep</vt:lpstr>
      <vt:lpstr>Goal #2: being curious</vt:lpstr>
      <vt:lpstr>Ling-link...</vt:lpstr>
      <vt:lpstr>PowerPoint Presentation</vt:lpstr>
      <vt:lpstr>Questions come from observations</vt:lpstr>
      <vt:lpstr>How would we find out?</vt:lpstr>
      <vt:lpstr>What’s involved in research?</vt:lpstr>
      <vt:lpstr>Qualities of solid research questions</vt:lpstr>
      <vt:lpstr>Where does/can research start?</vt:lpstr>
      <vt:lpstr>Starting with observations (from Recitation 1)</vt:lpstr>
      <vt:lpstr>Observations ⟶ questions</vt:lpstr>
      <vt:lpstr>Attendance question 9-14 (lecture day 6)</vt:lpstr>
      <vt:lpstr>1. Based on previous research</vt:lpstr>
      <vt:lpstr>PowerPoint Presentation</vt:lpstr>
      <vt:lpstr>PowerPoint Presentation</vt:lpstr>
      <vt:lpstr>2. Practical and 3. Specific</vt:lpstr>
      <vt:lpstr>Why examine variation in words for        ?</vt:lpstr>
      <vt:lpstr>What’d we talk about?</vt:lpstr>
      <vt:lpstr>What’s next?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Takvoryan, Stella R.</dc:creator>
  <cp:lastModifiedBy>Takvoryan, Stella R.</cp:lastModifiedBy>
  <cp:revision>2</cp:revision>
  <dcterms:created xsi:type="dcterms:W3CDTF">2026-09-10T22:50:03Z</dcterms:created>
  <dcterms:modified xsi:type="dcterms:W3CDTF">2026-09-13T14:01:25Z</dcterms:modified>
</cp:coreProperties>
</file>