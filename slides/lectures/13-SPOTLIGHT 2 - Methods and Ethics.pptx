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52" r:id="rId4"/>
  </p:sldMasterIdLst>
  <p:notesMasterIdLst>
    <p:notesMasterId r:id="rId29"/>
  </p:notesMasterIdLst>
  <p:handoutMasterIdLst>
    <p:handoutMasterId r:id="rId30"/>
  </p:handoutMasterIdLst>
  <p:sldIdLst>
    <p:sldId id="345" r:id="rId5"/>
    <p:sldId id="335" r:id="rId6"/>
    <p:sldId id="334" r:id="rId7"/>
    <p:sldId id="339" r:id="rId8"/>
    <p:sldId id="342" r:id="rId9"/>
    <p:sldId id="341" r:id="rId10"/>
    <p:sldId id="343" r:id="rId11"/>
    <p:sldId id="347" r:id="rId12"/>
    <p:sldId id="346" r:id="rId13"/>
    <p:sldId id="349" r:id="rId14"/>
    <p:sldId id="348" r:id="rId15"/>
    <p:sldId id="318" r:id="rId16"/>
    <p:sldId id="336" r:id="rId17"/>
    <p:sldId id="320" r:id="rId18"/>
    <p:sldId id="322" r:id="rId19"/>
    <p:sldId id="324" r:id="rId20"/>
    <p:sldId id="321" r:id="rId21"/>
    <p:sldId id="325" r:id="rId22"/>
    <p:sldId id="326" r:id="rId23"/>
    <p:sldId id="327" r:id="rId24"/>
    <p:sldId id="328" r:id="rId25"/>
    <p:sldId id="337" r:id="rId26"/>
    <p:sldId id="338" r:id="rId27"/>
    <p:sldId id="35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5AA1BD55-57CD-466E-0725-B6CBA11E0D12}" name="Lauren Weldy (ALLEGIS GROUP SERVICES)" initials="LW" userId="S::v-lweldy@microsoft.com::07a2285c-a352-4b96-8658-ecc34365c15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BC80"/>
    <a:srgbClr val="94A088"/>
    <a:srgbClr val="E48312"/>
    <a:srgbClr val="EBEDE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C87FC-ACF5-47CC-A343-850AC19B0A46}" v="11" dt="2025-02-24T16:19:37.113"/>
    <p1510:client id="{AAC3C497-BBA4-40F8-89AE-664B02A3E2B0}" v="27" dt="2025-02-24T19:58:56.424"/>
  </p1510:revLst>
</p1510:revInfo>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547" autoAdjust="0"/>
    <p:restoredTop sz="65583" autoAdjust="0"/>
  </p:normalViewPr>
  <p:slideViewPr>
    <p:cSldViewPr snapToGrid="0">
      <p:cViewPr varScale="1">
        <p:scale>
          <a:sx n="65" d="100"/>
          <a:sy n="65" d="100"/>
        </p:scale>
        <p:origin x="1344" y="19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149"/>
    </p:cViewPr>
  </p:sorterViewPr>
  <p:notesViewPr>
    <p:cSldViewPr snapToGrid="0">
      <p:cViewPr>
        <p:scale>
          <a:sx n="1" d="2"/>
          <a:sy n="1" d="2"/>
        </p:scale>
        <p:origin x="2640" y="28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10/10/26</a:t>
            </a:fld>
            <a:endParaRPr lang="en-US"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10/10/26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Outline the spotlight lectures: </a:t>
            </a:r>
          </a:p>
          <a:p>
            <a:pPr marL="171450" lvl="0" indent="-171450">
              <a:buFontTx/>
              <a:buChar char="-"/>
            </a:pPr>
            <a:r>
              <a:rPr lang="en-US" dirty="0"/>
              <a:t>Regular lectures are to introduce linguistic concepts (what </a:t>
            </a:r>
            <a:r>
              <a:rPr lang="en-US" i="1" dirty="0"/>
              <a:t>is</a:t>
            </a:r>
            <a:r>
              <a:rPr lang="en-US" i="0" dirty="0"/>
              <a:t> linguistics?)</a:t>
            </a:r>
          </a:p>
          <a:p>
            <a:pPr marL="171450" lvl="0" indent="-171450">
              <a:buFontTx/>
              <a:buChar char="-"/>
            </a:pPr>
            <a:r>
              <a:rPr lang="en-US" i="0" dirty="0"/>
              <a:t>Spotlight lectures are about </a:t>
            </a:r>
            <a:r>
              <a:rPr lang="en-US" i="1" dirty="0"/>
              <a:t>how</a:t>
            </a:r>
            <a:r>
              <a:rPr lang="en-US" i="0" dirty="0"/>
              <a:t> we </a:t>
            </a:r>
            <a:r>
              <a:rPr lang="en-US" i="1" dirty="0"/>
              <a:t>do </a:t>
            </a:r>
            <a:r>
              <a:rPr lang="en-US" i="0" dirty="0"/>
              <a:t>linguistics</a:t>
            </a:r>
          </a:p>
          <a:p>
            <a:pPr marL="171450" lvl="0" indent="-171450">
              <a:buFontTx/>
              <a:buChar char="-"/>
            </a:pPr>
            <a:endParaRPr lang="en-US" i="0" dirty="0"/>
          </a:p>
          <a:p>
            <a:pPr marL="171450" lvl="0" indent="-171450">
              <a:buFontTx/>
              <a:buChar char="-"/>
            </a:pPr>
            <a:r>
              <a:rPr lang="en-US" i="0" dirty="0"/>
              <a:t>Stella’s spotlight lecture: about forming research questions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i="0" dirty="0"/>
              <a:t>what kinds of questions can we ask? What makes a good research question?  (grounded in previous research; practical; specific)</a:t>
            </a:r>
          </a:p>
          <a:p>
            <a:pPr marL="171450" lvl="0" indent="-171450">
              <a:buFontTx/>
              <a:buChar char="-"/>
            </a:pPr>
            <a:r>
              <a:rPr lang="en-US" i="0" dirty="0"/>
              <a:t>Next lecture: How do we find relevant linguistic sources?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i="0" dirty="0"/>
              <a:t>This lecture: how do we </a:t>
            </a:r>
            <a:r>
              <a:rPr lang="en-US" i="1" dirty="0"/>
              <a:t>conduct</a:t>
            </a:r>
            <a:r>
              <a:rPr lang="en-US" i="0" dirty="0"/>
              <a:t> the research? </a:t>
            </a:r>
          </a:p>
          <a:p>
            <a:pPr marL="171450" lvl="0" indent="-171450">
              <a:buFontTx/>
              <a:buChar char="-"/>
            </a:pPr>
            <a:endParaRPr lang="en-US" b="0" i="0" dirty="0"/>
          </a:p>
          <a:p>
            <a:pPr marL="171450" lvl="0" indent="-171450">
              <a:buFontTx/>
              <a:buChar char="-"/>
            </a:pPr>
            <a:endParaRPr lang="en-US" b="0" i="0" dirty="0"/>
          </a:p>
          <a:p>
            <a:pPr marL="171450" lvl="0" indent="-171450">
              <a:buFontTx/>
              <a:buChar char="-"/>
            </a:pPr>
            <a:endParaRPr lang="en-US" b="0" i="0" dirty="0"/>
          </a:p>
          <a:p>
            <a:pPr marL="171450" lvl="0" indent="-171450">
              <a:buFontTx/>
              <a:buChar char="-"/>
            </a:pPr>
            <a:r>
              <a:rPr lang="en-US" b="0" i="0" dirty="0"/>
              <a:t>What does </a:t>
            </a:r>
            <a:r>
              <a:rPr lang="en-US" b="0" i="0" u="sng" dirty="0"/>
              <a:t>this question </a:t>
            </a:r>
            <a:r>
              <a:rPr lang="en-US" b="0" i="0" dirty="0"/>
              <a:t>mean?</a:t>
            </a:r>
          </a:p>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dirty="0"/>
          </a:p>
        </p:txBody>
      </p:sp>
    </p:spTree>
    <p:extLst>
      <p:ext uri="{BB962C8B-B14F-4D97-AF65-F5344CB8AC3E}">
        <p14:creationId xmlns:p14="http://schemas.microsoft.com/office/powerpoint/2010/main" val="614945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2</a:t>
            </a:fld>
            <a:endParaRPr lang="en-US" dirty="0"/>
          </a:p>
        </p:txBody>
      </p:sp>
    </p:spTree>
    <p:extLst>
      <p:ext uri="{BB962C8B-B14F-4D97-AF65-F5344CB8AC3E}">
        <p14:creationId xmlns:p14="http://schemas.microsoft.com/office/powerpoint/2010/main" val="4199803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3</a:t>
            </a:fld>
            <a:endParaRPr lang="en-US" dirty="0"/>
          </a:p>
        </p:txBody>
      </p:sp>
    </p:spTree>
    <p:extLst>
      <p:ext uri="{BB962C8B-B14F-4D97-AF65-F5344CB8AC3E}">
        <p14:creationId xmlns:p14="http://schemas.microsoft.com/office/powerpoint/2010/main" val="207125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4</a:t>
            </a:fld>
            <a:endParaRPr lang="en-US" dirty="0"/>
          </a:p>
        </p:txBody>
      </p:sp>
    </p:spTree>
    <p:extLst>
      <p:ext uri="{BB962C8B-B14F-4D97-AF65-F5344CB8AC3E}">
        <p14:creationId xmlns:p14="http://schemas.microsoft.com/office/powerpoint/2010/main" val="2188436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5</a:t>
            </a:fld>
            <a:endParaRPr lang="en-US" dirty="0"/>
          </a:p>
        </p:txBody>
      </p:sp>
    </p:spTree>
    <p:extLst>
      <p:ext uri="{BB962C8B-B14F-4D97-AF65-F5344CB8AC3E}">
        <p14:creationId xmlns:p14="http://schemas.microsoft.com/office/powerpoint/2010/main" val="2000112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Operationalizing a variable </a:t>
            </a:r>
            <a:r>
              <a:rPr lang="en-US" sz="1200" kern="1200" dirty="0">
                <a:solidFill>
                  <a:schemeClr val="tx1"/>
                </a:solidFill>
                <a:effectLst/>
                <a:latin typeface="+mn-lt"/>
                <a:ea typeface="+mn-ea"/>
                <a:cs typeface="+mn-cs"/>
              </a:rPr>
              <a:t>makes it </a:t>
            </a:r>
            <a:r>
              <a:rPr lang="en-US" sz="1200" i="1" kern="1200" dirty="0">
                <a:solidFill>
                  <a:schemeClr val="tx1"/>
                </a:solidFill>
                <a:effectLst/>
                <a:latin typeface="+mn-lt"/>
                <a:ea typeface="+mn-ea"/>
                <a:cs typeface="+mn-cs"/>
              </a:rPr>
              <a:t>measurable</a:t>
            </a:r>
            <a:r>
              <a:rPr lang="en-US" sz="1200" kern="1200" dirty="0">
                <a:solidFill>
                  <a:schemeClr val="tx1"/>
                </a:solidFill>
                <a:effectLst/>
                <a:latin typeface="+mn-lt"/>
                <a:ea typeface="+mn-ea"/>
                <a:cs typeface="+mn-cs"/>
              </a:rPr>
              <a:t> - you’re defining the potential </a:t>
            </a:r>
            <a:r>
              <a:rPr lang="en-US" sz="1200" i="1" kern="1200" dirty="0">
                <a:solidFill>
                  <a:schemeClr val="tx1"/>
                </a:solidFill>
                <a:effectLst/>
                <a:latin typeface="+mn-lt"/>
                <a:ea typeface="+mn-ea"/>
                <a:cs typeface="+mn-cs"/>
              </a:rPr>
              <a:t>values</a:t>
            </a:r>
            <a:r>
              <a:rPr lang="en-US" sz="1200" kern="1200" dirty="0">
                <a:solidFill>
                  <a:schemeClr val="tx1"/>
                </a:solidFill>
                <a:effectLst/>
                <a:latin typeface="+mn-lt"/>
                <a:ea typeface="+mn-ea"/>
                <a:cs typeface="+mn-cs"/>
              </a:rPr>
              <a:t> it can have</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You have to be strategic.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Region: </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How specific? Country / state / county / city / home address. Based on our question, what makes the most sense? </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When? Where someone was born? Where they live now? Where they spent the most time? </a:t>
            </a:r>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In this example, region is the independent variable (the variable we think is affecting the linguistic behavior) and variant is the dependent variable (the variable we think is affected by changes in region). </a:t>
            </a:r>
          </a:p>
          <a:p>
            <a:pPr marL="1543050" marR="0" lvl="3"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You might have multiple hypotheses</a:t>
            </a:r>
          </a:p>
          <a:p>
            <a:pPr marL="1543050" marR="0" lvl="3"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Note: this hypothesis is still pretty unspecific. What’s the “Midwest”?</a:t>
            </a:r>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4EEB602-95FC-483A-B12D-216A7AD7EA24}" type="slidenum">
              <a:rPr lang="en-US" smtClean="0"/>
              <a:t>6</a:t>
            </a:fld>
            <a:endParaRPr lang="en-US" dirty="0"/>
          </a:p>
        </p:txBody>
      </p:sp>
    </p:spTree>
    <p:extLst>
      <p:ext uri="{BB962C8B-B14F-4D97-AF65-F5344CB8AC3E}">
        <p14:creationId xmlns:p14="http://schemas.microsoft.com/office/powerpoint/2010/main" val="1481055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4778B-8E9D-270F-4E58-719271B04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FCD87-6DD8-82F9-29BA-EAAB7364C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3C52E-25E6-1646-3775-E062BE2B65E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For the carbonated drinks question: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Population: Americans English speakers</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dirty="0"/>
              <a:t>Sample: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Survey with questions targeting: </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dirty="0"/>
              <a:t>The speaker’s word for a carbonated/fizzy drink ?</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dirty="0"/>
              <a:t>Some variant of “where are you from?”  depending on how you define the region variable</a:t>
            </a:r>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dirty="0"/>
          </a:p>
        </p:txBody>
      </p:sp>
      <p:sp>
        <p:nvSpPr>
          <p:cNvPr id="4" name="Slide Number Placeholder 3">
            <a:extLst>
              <a:ext uri="{FF2B5EF4-FFF2-40B4-BE49-F238E27FC236}">
                <a16:creationId xmlns:a16="http://schemas.microsoft.com/office/drawing/2014/main" id="{FB302F4D-05CF-C5D5-97C8-69580CFDA8D0}"/>
              </a:ext>
            </a:extLst>
          </p:cNvPr>
          <p:cNvSpPr>
            <a:spLocks noGrp="1"/>
          </p:cNvSpPr>
          <p:nvPr>
            <p:ph type="sldNum" sz="quarter" idx="5"/>
          </p:nvPr>
        </p:nvSpPr>
        <p:spPr/>
        <p:txBody>
          <a:bodyPr/>
          <a:lstStyle/>
          <a:p>
            <a:fld id="{54EEB602-95FC-483A-B12D-216A7AD7EA24}" type="slidenum">
              <a:rPr lang="en-US" smtClean="0"/>
              <a:t>7</a:t>
            </a:fld>
            <a:endParaRPr lang="en-US" dirty="0"/>
          </a:p>
        </p:txBody>
      </p:sp>
    </p:spTree>
    <p:extLst>
      <p:ext uri="{BB962C8B-B14F-4D97-AF65-F5344CB8AC3E}">
        <p14:creationId xmlns:p14="http://schemas.microsoft.com/office/powerpoint/2010/main" val="3242267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Structure of a survey / questions can bias the answers. </a:t>
            </a:r>
          </a:p>
        </p:txBody>
      </p:sp>
      <p:sp>
        <p:nvSpPr>
          <p:cNvPr id="4" name="Slide Number Placeholder 3"/>
          <p:cNvSpPr>
            <a:spLocks noGrp="1"/>
          </p:cNvSpPr>
          <p:nvPr>
            <p:ph type="sldNum" sz="quarter" idx="5"/>
          </p:nvPr>
        </p:nvSpPr>
        <p:spPr/>
        <p:txBody>
          <a:bodyPr/>
          <a:lstStyle/>
          <a:p>
            <a:fld id="{54EEB602-95FC-483A-B12D-216A7AD7EA24}" type="slidenum">
              <a:rPr lang="en-US" smtClean="0"/>
              <a:t>8</a:t>
            </a:fld>
            <a:endParaRPr lang="en-US" dirty="0"/>
          </a:p>
        </p:txBody>
      </p:sp>
    </p:spTree>
    <p:extLst>
      <p:ext uri="{BB962C8B-B14F-4D97-AF65-F5344CB8AC3E}">
        <p14:creationId xmlns:p14="http://schemas.microsoft.com/office/powerpoint/2010/main" val="2513226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9302-C8E4-B43A-EE39-936D7CA8A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1900C-5112-2E74-0D30-75763E7E46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BE000-1EF4-B39E-D634-F606AE0332D7}"/>
              </a:ext>
            </a:extLst>
          </p:cNvPr>
          <p:cNvSpPr>
            <a:spLocks noGrp="1"/>
          </p:cNvSpPr>
          <p:nvPr>
            <p:ph type="body" idx="1"/>
          </p:nvPr>
        </p:nvSpPr>
        <p:spPr/>
        <p:txBody>
          <a:bodyPr/>
          <a:lstStyle/>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dirty="0"/>
              <a:t>If the data supports your hypothesis, hooray! </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dirty="0"/>
              <a:t>If not, it sometimes contradicts your hypothesis in interesting ways. </a:t>
            </a:r>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dirty="0"/>
              <a:t>Either way, the next step is to take your new observations and </a:t>
            </a:r>
            <a:r>
              <a:rPr lang="en-US" i="1" dirty="0"/>
              <a:t>keep asking questions!</a:t>
            </a:r>
            <a:endParaRPr lang="en-US" i="0" dirty="0"/>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i="0" dirty="0"/>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dirty="0"/>
          </a:p>
        </p:txBody>
      </p:sp>
      <p:sp>
        <p:nvSpPr>
          <p:cNvPr id="4" name="Slide Number Placeholder 3">
            <a:extLst>
              <a:ext uri="{FF2B5EF4-FFF2-40B4-BE49-F238E27FC236}">
                <a16:creationId xmlns:a16="http://schemas.microsoft.com/office/drawing/2014/main" id="{F855D81C-4D7B-2C9F-4E27-B895D8021C51}"/>
              </a:ext>
            </a:extLst>
          </p:cNvPr>
          <p:cNvSpPr>
            <a:spLocks noGrp="1"/>
          </p:cNvSpPr>
          <p:nvPr>
            <p:ph type="sldNum" sz="quarter" idx="5"/>
          </p:nvPr>
        </p:nvSpPr>
        <p:spPr/>
        <p:txBody>
          <a:bodyPr/>
          <a:lstStyle/>
          <a:p>
            <a:fld id="{54EEB602-95FC-483A-B12D-216A7AD7EA24}" type="slidenum">
              <a:rPr lang="en-US" smtClean="0"/>
              <a:t>9</a:t>
            </a:fld>
            <a:endParaRPr lang="en-US" dirty="0"/>
          </a:p>
        </p:txBody>
      </p:sp>
    </p:spTree>
    <p:extLst>
      <p:ext uri="{BB962C8B-B14F-4D97-AF65-F5344CB8AC3E}">
        <p14:creationId xmlns:p14="http://schemas.microsoft.com/office/powerpoint/2010/main" val="1651823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check – what makes an experiment (un)ethical?</a:t>
            </a:r>
          </a:p>
          <a:p>
            <a:endParaRPr lang="en-US" dirty="0"/>
          </a:p>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12</a:t>
            </a:fld>
            <a:endParaRPr lang="en-US" dirty="0"/>
          </a:p>
        </p:txBody>
      </p:sp>
    </p:spTree>
    <p:extLst>
      <p:ext uri="{BB962C8B-B14F-4D97-AF65-F5344CB8AC3E}">
        <p14:creationId xmlns:p14="http://schemas.microsoft.com/office/powerpoint/2010/main" val="3683629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This one was really egregiously unethical… but there are some examples that might be less obvious</a:t>
            </a:r>
          </a:p>
        </p:txBody>
      </p:sp>
      <p:sp>
        <p:nvSpPr>
          <p:cNvPr id="4" name="Slide Number Placeholder 3"/>
          <p:cNvSpPr>
            <a:spLocks noGrp="1"/>
          </p:cNvSpPr>
          <p:nvPr>
            <p:ph type="sldNum" sz="quarter" idx="5"/>
          </p:nvPr>
        </p:nvSpPr>
        <p:spPr/>
        <p:txBody>
          <a:bodyPr/>
          <a:lstStyle/>
          <a:p>
            <a:fld id="{54EEB602-95FC-483A-B12D-216A7AD7EA24}" type="slidenum">
              <a:rPr lang="en-US" smtClean="0"/>
              <a:t>14</a:t>
            </a:fld>
            <a:endParaRPr lang="en-US" dirty="0"/>
          </a:p>
        </p:txBody>
      </p:sp>
    </p:spTree>
    <p:extLst>
      <p:ext uri="{BB962C8B-B14F-4D97-AF65-F5344CB8AC3E}">
        <p14:creationId xmlns:p14="http://schemas.microsoft.com/office/powerpoint/2010/main" val="1913605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from linguistics</a:t>
            </a:r>
          </a:p>
          <a:p>
            <a:endParaRPr lang="en-US" dirty="0"/>
          </a:p>
          <a:p>
            <a:r>
              <a:rPr lang="en-US" dirty="0"/>
              <a:t>not inherently unethical, but it can be distressing</a:t>
            </a:r>
          </a:p>
          <a:p>
            <a:pPr marL="171450" indent="-171450">
              <a:buFontTx/>
              <a:buChar char="-"/>
            </a:pPr>
            <a:r>
              <a:rPr lang="en-US" dirty="0"/>
              <a:t>use it sensitively</a:t>
            </a:r>
          </a:p>
          <a:p>
            <a:pPr marL="171450" indent="-171450">
              <a:buFontTx/>
              <a:buChar char="-"/>
            </a:pPr>
            <a:r>
              <a:rPr lang="en-US" dirty="0"/>
              <a:t>obtain informed consent</a:t>
            </a:r>
          </a:p>
          <a:p>
            <a:pPr marL="171450" indent="-171450">
              <a:buFontTx/>
              <a:buChar char="-"/>
            </a:pPr>
            <a:r>
              <a:rPr lang="en-US" dirty="0"/>
              <a:t>let participants decline to respond or stop the interview</a:t>
            </a:r>
          </a:p>
        </p:txBody>
      </p:sp>
      <p:sp>
        <p:nvSpPr>
          <p:cNvPr id="4" name="Slide Number Placeholder 3"/>
          <p:cNvSpPr>
            <a:spLocks noGrp="1"/>
          </p:cNvSpPr>
          <p:nvPr>
            <p:ph type="sldNum" sz="quarter" idx="5"/>
          </p:nvPr>
        </p:nvSpPr>
        <p:spPr/>
        <p:txBody>
          <a:bodyPr/>
          <a:lstStyle/>
          <a:p>
            <a:fld id="{54EEB602-95FC-483A-B12D-216A7AD7EA24}" type="slidenum">
              <a:rPr lang="en-US" smtClean="0"/>
              <a:t>15</a:t>
            </a:fld>
            <a:endParaRPr lang="en-US" dirty="0"/>
          </a:p>
        </p:txBody>
      </p:sp>
    </p:spTree>
    <p:extLst>
      <p:ext uri="{BB962C8B-B14F-4D97-AF65-F5344CB8AC3E}">
        <p14:creationId xmlns:p14="http://schemas.microsoft.com/office/powerpoint/2010/main" val="2093917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lot to unpack from this article, but key points: </a:t>
            </a:r>
          </a:p>
          <a:p>
            <a:pPr marL="171450" indent="-171450">
              <a:buFontTx/>
              <a:buChar char="-"/>
            </a:pPr>
            <a:r>
              <a:rPr lang="en-US" dirty="0"/>
              <a:t>Who was this research for? </a:t>
            </a:r>
          </a:p>
          <a:p>
            <a:pPr marL="171450" indent="-171450">
              <a:buFontTx/>
              <a:buChar char="-"/>
            </a:pPr>
            <a:endParaRPr lang="en-US" dirty="0"/>
          </a:p>
          <a:p>
            <a:pPr marL="171450" indent="-171450">
              <a:buFontTx/>
              <a:buChar char="-"/>
            </a:pPr>
            <a:r>
              <a:rPr lang="en-US" dirty="0"/>
              <a:t>This research has had benefits for the Penobscot community</a:t>
            </a:r>
          </a:p>
          <a:p>
            <a:pPr marL="628650" lvl="1" indent="-171450">
              <a:buFontTx/>
              <a:buChar char="-"/>
            </a:pPr>
            <a:r>
              <a:rPr lang="en-US" sz="800" kern="1200" dirty="0">
                <a:solidFill>
                  <a:schemeClr val="tx1"/>
                </a:solidFill>
                <a:effectLst/>
                <a:latin typeface="+mn-lt"/>
                <a:ea typeface="+mn-ea"/>
                <a:cs typeface="+mn-cs"/>
              </a:rPr>
              <a:t>Language revitalization efforts make use of Siebert’s wordlists and dictionary.</a:t>
            </a:r>
          </a:p>
          <a:p>
            <a:pPr marL="1085850" lvl="2" indent="-171450">
              <a:buFontTx/>
              <a:buChar char="-"/>
            </a:pPr>
            <a:r>
              <a:rPr lang="en-US" sz="1200" kern="1200" dirty="0">
                <a:solidFill>
                  <a:schemeClr val="tx1"/>
                </a:solidFill>
                <a:effectLst/>
                <a:latin typeface="+mn-lt"/>
                <a:ea typeface="+mn-ea"/>
                <a:cs typeface="+mn-cs"/>
              </a:rPr>
              <a:t>Carol Dana leads lessons and activities with students, trains instructors, helped the Penobscot Theatre Company stage a production of </a:t>
            </a:r>
            <a:r>
              <a:rPr lang="en-US" sz="1200" kern="1200" dirty="0" err="1">
                <a:solidFill>
                  <a:schemeClr val="tx1"/>
                </a:solidFill>
                <a:effectLst/>
                <a:latin typeface="+mn-lt"/>
                <a:ea typeface="+mn-ea"/>
                <a:cs typeface="+mn-cs"/>
              </a:rPr>
              <a:t>Gluskabe</a:t>
            </a:r>
            <a:r>
              <a:rPr lang="en-US" sz="1200" kern="1200" dirty="0">
                <a:solidFill>
                  <a:schemeClr val="tx1"/>
                </a:solidFill>
                <a:effectLst/>
                <a:latin typeface="+mn-lt"/>
                <a:ea typeface="+mn-ea"/>
                <a:cs typeface="+mn-cs"/>
              </a:rPr>
              <a:t> stories starring local children</a:t>
            </a:r>
          </a:p>
          <a:p>
            <a:pPr marL="1085850" lvl="2" indent="-171450">
              <a:buFontTx/>
              <a:buChar char="-"/>
            </a:pPr>
            <a:r>
              <a:rPr lang="en-US" sz="1200" kern="1200" dirty="0">
                <a:solidFill>
                  <a:schemeClr val="tx1"/>
                </a:solidFill>
                <a:effectLst/>
                <a:latin typeface="+mn-lt"/>
                <a:ea typeface="+mn-ea"/>
                <a:cs typeface="+mn-cs"/>
              </a:rPr>
              <a:t>Conor Quinn, Siebert’s former assistant, leads summer language intensives for local teenagers and has been working to revise the Penobscot dictionary</a:t>
            </a:r>
          </a:p>
          <a:p>
            <a:pPr marL="628650" lvl="1" indent="-171450">
              <a:buFontTx/>
              <a:buChar char="-"/>
            </a:pPr>
            <a:endParaRPr lang="en-US" dirty="0"/>
          </a:p>
          <a:p>
            <a:pPr marL="171450" indent="-171450">
              <a:buFontTx/>
              <a:buChar char="-"/>
            </a:pPr>
            <a:r>
              <a:rPr lang="en-US" dirty="0"/>
              <a:t>But Frank Siebert didn’t necessarily have the community in mind</a:t>
            </a:r>
          </a:p>
          <a:p>
            <a:pPr marL="628650" lvl="1" indent="-171450">
              <a:buFontTx/>
              <a:buChar char="-"/>
            </a:pPr>
            <a:r>
              <a:rPr lang="en-US" dirty="0"/>
              <a:t>The data he collected didn’t belong to the community (it was legally his under copyright law, and then the American Philosophical Society’s)</a:t>
            </a:r>
          </a:p>
          <a:p>
            <a:pPr marL="628650" lvl="1" indent="-171450">
              <a:buFontTx/>
              <a:buChar char="-"/>
            </a:pPr>
            <a:endParaRPr lang="en-US" dirty="0"/>
          </a:p>
          <a:p>
            <a:pPr marL="171450" indent="-171450">
              <a:buFontTx/>
              <a:buChar char="-"/>
            </a:pPr>
            <a:endParaRPr lang="en-US" dirty="0"/>
          </a:p>
          <a:p>
            <a:pPr marL="171450" indent="-171450">
              <a:buFontTx/>
              <a:buChar char="-"/>
            </a:pPr>
            <a:endParaRPr lang="en-US" dirty="0"/>
          </a:p>
          <a:p>
            <a:r>
              <a:rPr lang="en-US" sz="1200" kern="1200" dirty="0">
                <a:solidFill>
                  <a:schemeClr val="tx1"/>
                </a:solidFill>
                <a:effectLst/>
                <a:latin typeface="+mn-lt"/>
                <a:ea typeface="+mn-ea"/>
                <a:cs typeface="+mn-cs"/>
              </a:rPr>
              <a:t>“ Anderson sees Siebert’s approach as archetypal of nineteenth- and early-twentieth-century anthropological research, which tended to cast indigenous people not as participants but as objects of study, and rarely aspired to benefit them.” </a:t>
            </a:r>
          </a:p>
          <a:p>
            <a:pPr marL="171450" indent="-171450">
              <a:buFontTx/>
              <a:buChar char="-"/>
            </a:pPr>
            <a:r>
              <a:rPr lang="en-US" sz="1200" kern="1200" dirty="0">
                <a:solidFill>
                  <a:schemeClr val="tx1"/>
                </a:solidFill>
                <a:effectLst/>
                <a:latin typeface="+mn-lt"/>
                <a:ea typeface="+mn-ea"/>
                <a:cs typeface="+mn-cs"/>
              </a:rPr>
              <a:t>Siebert’s research, including the language data he collected, does not belong to the community that made it possible (and that could benefit most from it)</a:t>
            </a:r>
          </a:p>
          <a:p>
            <a:pPr marL="628650" lvl="1" indent="-171450">
              <a:buFontTx/>
              <a:buChar char="-"/>
            </a:pPr>
            <a:r>
              <a:rPr lang="en-US" sz="1200" kern="1200" dirty="0">
                <a:solidFill>
                  <a:schemeClr val="tx1"/>
                </a:solidFill>
                <a:effectLst/>
                <a:latin typeface="+mn-lt"/>
                <a:ea typeface="+mn-ea"/>
                <a:cs typeface="+mn-cs"/>
              </a:rPr>
              <a:t>“ In copying down the grammar, the stories, and the vocabulary of the Penobscot, Siebert made them his. In dying, he made them the American Philosophical Society’s.” </a:t>
            </a:r>
          </a:p>
          <a:p>
            <a:pPr marL="628650" lvl="1" indent="-171450">
              <a:buFontTx/>
              <a:buChar char="-"/>
            </a:pPr>
            <a:endParaRPr lang="en-US" sz="1200" kern="1200" dirty="0">
              <a:solidFill>
                <a:schemeClr val="tx1"/>
              </a:solidFill>
              <a:effectLst/>
              <a:latin typeface="+mn-lt"/>
              <a:ea typeface="+mn-ea"/>
              <a:cs typeface="+mn-cs"/>
            </a:endParaRPr>
          </a:p>
          <a:p>
            <a:pPr marL="628650" lvl="1" indent="-171450">
              <a:buFontTx/>
              <a:buChar char="-"/>
            </a:pPr>
            <a:r>
              <a:rPr lang="en-US" sz="1200" kern="1200" dirty="0">
                <a:solidFill>
                  <a:schemeClr val="tx1"/>
                </a:solidFill>
                <a:effectLst/>
                <a:latin typeface="+mn-lt"/>
                <a:ea typeface="+mn-ea"/>
                <a:cs typeface="+mn-cs"/>
              </a:rPr>
              <a:t>One part of the article describes Siebert interviewing a group of elders and </a:t>
            </a:r>
            <a:r>
              <a:rPr lang="en-US" sz="1200" i="1" kern="1200" dirty="0">
                <a:solidFill>
                  <a:schemeClr val="tx1"/>
                </a:solidFill>
                <a:effectLst/>
                <a:latin typeface="+mn-lt"/>
                <a:ea typeface="+mn-ea"/>
                <a:cs typeface="+mn-cs"/>
              </a:rPr>
              <a:t>correcting</a:t>
            </a:r>
            <a:r>
              <a:rPr lang="en-US" sz="1200" kern="1200" dirty="0">
                <a:solidFill>
                  <a:schemeClr val="tx1"/>
                </a:solidFill>
                <a:effectLst/>
                <a:latin typeface="+mn-lt"/>
                <a:ea typeface="+mn-ea"/>
                <a:cs typeface="+mn-cs"/>
              </a:rPr>
              <a:t> one of them, claiming more knowledge of the Penobscot language than the people he’s interviewing (prescriptivism vs. descriptivism)</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16</a:t>
            </a:fld>
            <a:endParaRPr lang="en-US" dirty="0"/>
          </a:p>
        </p:txBody>
      </p:sp>
    </p:spTree>
    <p:extLst>
      <p:ext uri="{BB962C8B-B14F-4D97-AF65-F5344CB8AC3E}">
        <p14:creationId xmlns:p14="http://schemas.microsoft.com/office/powerpoint/2010/main" val="1088695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seen lots of unethical ways to do research. So </a:t>
            </a:r>
          </a:p>
          <a:p>
            <a:endParaRPr lang="en-US" dirty="0"/>
          </a:p>
          <a:p>
            <a:endParaRPr lang="en-US" dirty="0"/>
          </a:p>
          <a:p>
            <a:r>
              <a:rPr lang="en-US" dirty="0"/>
              <a:t>- There are relationships between these five things, which we’ll see</a:t>
            </a:r>
          </a:p>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17</a:t>
            </a:fld>
            <a:endParaRPr lang="en-US" dirty="0"/>
          </a:p>
        </p:txBody>
      </p:sp>
    </p:spTree>
    <p:extLst>
      <p:ext uri="{BB962C8B-B14F-4D97-AF65-F5344CB8AC3E}">
        <p14:creationId xmlns:p14="http://schemas.microsoft.com/office/powerpoint/2010/main" val="204945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Informed consent  </a:t>
            </a:r>
          </a:p>
          <a:p>
            <a:pPr marL="171450" indent="-171450">
              <a:buFont typeface="Arial" panose="020B0604020202020204" pitchFamily="34" charset="0"/>
              <a:buChar char="•"/>
            </a:pPr>
            <a:r>
              <a:rPr lang="en-US" dirty="0"/>
              <a:t>includes: as much transparency as possible</a:t>
            </a:r>
          </a:p>
          <a:p>
            <a:pPr marL="171450" indent="-171450">
              <a:buFont typeface="Arial" panose="020B0604020202020204" pitchFamily="34" charset="0"/>
              <a:buChar char="•"/>
            </a:pPr>
            <a:r>
              <a:rPr lang="en-US" dirty="0"/>
              <a:t>Mentions any risk of harm to the participant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Contrast with: Milgram experiment (“you may withdraw your consent at any time”)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Confidentiality / Anonymity: also a way of minimizing risk of harm to participants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18</a:t>
            </a:fld>
            <a:endParaRPr lang="en-US" dirty="0"/>
          </a:p>
        </p:txBody>
      </p:sp>
    </p:spTree>
    <p:extLst>
      <p:ext uri="{BB962C8B-B14F-4D97-AF65-F5344CB8AC3E}">
        <p14:creationId xmlns:p14="http://schemas.microsoft.com/office/powerpoint/2010/main" val="186019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19</a:t>
            </a:fld>
            <a:endParaRPr lang="en-US" dirty="0"/>
          </a:p>
        </p:txBody>
      </p:sp>
    </p:spTree>
    <p:extLst>
      <p:ext uri="{BB962C8B-B14F-4D97-AF65-F5344CB8AC3E}">
        <p14:creationId xmlns:p14="http://schemas.microsoft.com/office/powerpoint/2010/main" val="4194794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helps you protect the confidentiality and anonymity of participants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20</a:t>
            </a:fld>
            <a:endParaRPr lang="en-US" dirty="0"/>
          </a:p>
        </p:txBody>
      </p:sp>
    </p:spTree>
    <p:extLst>
      <p:ext uri="{BB962C8B-B14F-4D97-AF65-F5344CB8AC3E}">
        <p14:creationId xmlns:p14="http://schemas.microsoft.com/office/powerpoint/2010/main" val="1395515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mitigate harm: </a:t>
            </a:r>
          </a:p>
          <a:p>
            <a:pPr marL="171450" indent="-171450">
              <a:buFontTx/>
              <a:buChar char="-"/>
            </a:pPr>
            <a:r>
              <a:rPr lang="en-US" dirty="0"/>
              <a:t>Reaffirm participant consent – they do not have to answer questions they are uncomfortable with</a:t>
            </a:r>
          </a:p>
          <a:p>
            <a:pPr marL="171450" indent="-171450">
              <a:buFontTx/>
              <a:buChar char="-"/>
            </a:pPr>
            <a:endParaRPr lang="en-US" dirty="0"/>
          </a:p>
          <a:p>
            <a:pPr marL="171450" indent="-171450">
              <a:buFontTx/>
              <a:buChar char="-"/>
            </a:pPr>
            <a:endParaRPr lang="en-US" dirty="0"/>
          </a:p>
          <a:p>
            <a:r>
              <a:rPr lang="en-US" dirty="0"/>
              <a:t>this necessary information? (the answer is not immediately clear)</a:t>
            </a:r>
          </a:p>
          <a:p>
            <a:r>
              <a:rPr lang="en-US" dirty="0"/>
              <a:t>- Next slide… don’t collect unnecessary information</a:t>
            </a:r>
          </a:p>
        </p:txBody>
      </p:sp>
      <p:sp>
        <p:nvSpPr>
          <p:cNvPr id="4" name="Slide Number Placeholder 3"/>
          <p:cNvSpPr>
            <a:spLocks noGrp="1"/>
          </p:cNvSpPr>
          <p:nvPr>
            <p:ph type="sldNum" sz="quarter" idx="5"/>
          </p:nvPr>
        </p:nvSpPr>
        <p:spPr/>
        <p:txBody>
          <a:bodyPr/>
          <a:lstStyle/>
          <a:p>
            <a:fld id="{54EEB602-95FC-483A-B12D-216A7AD7EA24}" type="slidenum">
              <a:rPr lang="en-US" smtClean="0"/>
              <a:t>21</a:t>
            </a:fld>
            <a:endParaRPr lang="en-US" dirty="0"/>
          </a:p>
        </p:txBody>
      </p:sp>
    </p:spTree>
    <p:extLst>
      <p:ext uri="{BB962C8B-B14F-4D97-AF65-F5344CB8AC3E}">
        <p14:creationId xmlns:p14="http://schemas.microsoft.com/office/powerpoint/2010/main" val="226056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A10D4-B464-427B-54A1-BA3DDD9C6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B77D5-3883-A247-3CCA-41185D3561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E0161-7B2C-6333-B39E-E42E8707188C}"/>
              </a:ext>
            </a:extLst>
          </p:cNvPr>
          <p:cNvSpPr>
            <a:spLocks noGrp="1"/>
          </p:cNvSpPr>
          <p:nvPr>
            <p:ph type="body" idx="1"/>
          </p:nvPr>
        </p:nvSpPr>
        <p:spPr/>
        <p:txBody>
          <a:bodyPr/>
          <a:lstStyle/>
          <a:p>
            <a:endParaRPr lang="en-US" dirty="0"/>
          </a:p>
          <a:p>
            <a:r>
              <a:rPr lang="en-US" dirty="0"/>
              <a:t>Put screenshot of Labov’s book on life &amp; death narratives </a:t>
            </a:r>
            <a:r>
              <a:rPr lang="en-US" dirty="0">
                <a:sym typeface="Wingdings" pitchFamily="2" charset="2"/>
              </a:rPr>
              <a:t> in this case, the question is immediately relevant</a:t>
            </a:r>
          </a:p>
          <a:p>
            <a:r>
              <a:rPr lang="en-US" dirty="0">
                <a:sym typeface="Wingdings" pitchFamily="2" charset="2"/>
              </a:rPr>
              <a:t>In other cases, a question that is less likely to cause distress may be more appropriate.</a:t>
            </a:r>
            <a:endParaRPr lang="en-US" dirty="0"/>
          </a:p>
        </p:txBody>
      </p:sp>
      <p:sp>
        <p:nvSpPr>
          <p:cNvPr id="4" name="Slide Number Placeholder 3">
            <a:extLst>
              <a:ext uri="{FF2B5EF4-FFF2-40B4-BE49-F238E27FC236}">
                <a16:creationId xmlns:a16="http://schemas.microsoft.com/office/drawing/2014/main" id="{193DF4B9-3938-3D22-3C1C-92661B4755A3}"/>
              </a:ext>
            </a:extLst>
          </p:cNvPr>
          <p:cNvSpPr>
            <a:spLocks noGrp="1"/>
          </p:cNvSpPr>
          <p:nvPr>
            <p:ph type="sldNum" sz="quarter" idx="5"/>
          </p:nvPr>
        </p:nvSpPr>
        <p:spPr/>
        <p:txBody>
          <a:bodyPr/>
          <a:lstStyle/>
          <a:p>
            <a:fld id="{54EEB602-95FC-483A-B12D-216A7AD7EA24}" type="slidenum">
              <a:rPr lang="en-US" smtClean="0"/>
              <a:t>22</a:t>
            </a:fld>
            <a:endParaRPr lang="en-US" dirty="0"/>
          </a:p>
        </p:txBody>
      </p:sp>
    </p:spTree>
    <p:extLst>
      <p:ext uri="{BB962C8B-B14F-4D97-AF65-F5344CB8AC3E}">
        <p14:creationId xmlns:p14="http://schemas.microsoft.com/office/powerpoint/2010/main" val="2098200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178AB-5785-806A-91AD-6279E794A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FA95E-409E-F912-0377-EA9CDE2BF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79659A-943E-8325-54F6-15D146D51068}"/>
              </a:ext>
            </a:extLst>
          </p:cNvPr>
          <p:cNvSpPr>
            <a:spLocks noGrp="1"/>
          </p:cNvSpPr>
          <p:nvPr>
            <p:ph type="body" idx="1"/>
          </p:nvPr>
        </p:nvSpPr>
        <p:spPr/>
        <p:txBody>
          <a:bodyPr/>
          <a:lstStyle/>
          <a:p>
            <a:pPr marL="171450" indent="-171450">
              <a:buFont typeface="Arial" panose="020B0604020202020204" pitchFamily="34" charset="0"/>
              <a:buChar char="•"/>
            </a:pPr>
            <a:r>
              <a:rPr lang="en-US" dirty="0"/>
              <a:t>Many universities require training before allowing scholars to conduct research</a:t>
            </a:r>
          </a:p>
          <a:p>
            <a:pPr marL="171450" indent="-171450">
              <a:buFont typeface="Arial" panose="020B0604020202020204" pitchFamily="34" charset="0"/>
              <a:buChar char="•"/>
            </a:pPr>
            <a:r>
              <a:rPr lang="en-US" dirty="0"/>
              <a:t>The IRB exists to ensure the research being conducted at an institutional is being done ethically</a:t>
            </a:r>
          </a:p>
          <a:p>
            <a:pPr marL="628650" lvl="1" indent="-171450">
              <a:buFont typeface="Arial" panose="020B0604020202020204" pitchFamily="34" charset="0"/>
              <a:buChar char="•"/>
            </a:pPr>
            <a:r>
              <a:rPr lang="en-US" dirty="0"/>
              <a:t>Before conducting research, researchers submit a proposal to the IRB</a:t>
            </a:r>
          </a:p>
          <a:p>
            <a:pPr marL="628650" lvl="1" indent="-171450">
              <a:buFont typeface="Arial" panose="020B0604020202020204" pitchFamily="34" charset="0"/>
              <a:buChar char="•"/>
            </a:pPr>
            <a:r>
              <a:rPr lang="en-US" dirty="0"/>
              <a:t>The IRB assesses the level of risk to the subjects, and the researcher’s plan at all stages (recruitment, data collection, data storage / destruction, </a:t>
            </a:r>
            <a:r>
              <a:rPr lang="en-US" dirty="0" err="1"/>
              <a:t>etc</a:t>
            </a:r>
            <a:r>
              <a:rPr lang="en-US" dirty="0"/>
              <a:t>)</a:t>
            </a:r>
          </a:p>
        </p:txBody>
      </p:sp>
      <p:sp>
        <p:nvSpPr>
          <p:cNvPr id="4" name="Slide Number Placeholder 3">
            <a:extLst>
              <a:ext uri="{FF2B5EF4-FFF2-40B4-BE49-F238E27FC236}">
                <a16:creationId xmlns:a16="http://schemas.microsoft.com/office/drawing/2014/main" id="{D3F45036-E680-48AB-03BF-6BFC8B30F7F9}"/>
              </a:ext>
            </a:extLst>
          </p:cNvPr>
          <p:cNvSpPr>
            <a:spLocks noGrp="1"/>
          </p:cNvSpPr>
          <p:nvPr>
            <p:ph type="sldNum" sz="quarter" idx="5"/>
          </p:nvPr>
        </p:nvSpPr>
        <p:spPr/>
        <p:txBody>
          <a:bodyPr/>
          <a:lstStyle/>
          <a:p>
            <a:fld id="{54EEB602-95FC-483A-B12D-216A7AD7EA24}" type="slidenum">
              <a:rPr lang="en-US" smtClean="0"/>
              <a:t>23</a:t>
            </a:fld>
            <a:endParaRPr lang="en-US" dirty="0"/>
          </a:p>
        </p:txBody>
      </p:sp>
    </p:spTree>
    <p:extLst>
      <p:ext uri="{BB962C8B-B14F-4D97-AF65-F5344CB8AC3E}">
        <p14:creationId xmlns:p14="http://schemas.microsoft.com/office/powerpoint/2010/main" val="12985353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Presentation Title</a:t>
            </a:r>
            <a:endParaRPr lang="en-US" dirty="0"/>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r>
              <a:rPr lang="en-US"/>
              <a:t>9/8/20XX</a:t>
            </a:r>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426605672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71737831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r>
              <a:rPr lang="en-US"/>
              <a:t>9/8/20XX</a:t>
            </a:r>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42626712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Presentation Title</a:t>
            </a:r>
            <a:endParaRPr lang="en-US" dirty="0"/>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r>
              <a:rPr lang="en-US"/>
              <a:t>9/8/20XX</a:t>
            </a:r>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99459944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3300266"/>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50922085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507570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65563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00083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Presentation Title</a:t>
            </a:r>
            <a:endParaRPr lang="en-US" dirty="0"/>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r>
              <a:rPr lang="en-US"/>
              <a:t>9/8/20XX</a:t>
            </a:r>
            <a:endParaRPr lang="en-US" dirty="0"/>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FAEF9944-A4F6-4C59-AEBD-678D6480B8EA}" type="slidenum">
              <a:rPr lang="en-US" smtClean="0"/>
              <a:pPr/>
              <a:t>‹#›</a:t>
            </a:fld>
            <a:endParaRPr lang="en-US" dirty="0"/>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1217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r>
              <a:rPr lang="en-US"/>
              <a:t>9/8/20XX</a:t>
            </a:r>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83874152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r>
              <a:rPr lang="en-US"/>
              <a:t>9/8/20XX</a:t>
            </a:r>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72185014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r>
              <a:rPr lang="en-US"/>
              <a:t>9/8/20XX</a:t>
            </a:r>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76216337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r>
              <a:rPr lang="en-US"/>
              <a:t>9/8/20XX</a:t>
            </a:r>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Presentation Title</a:t>
            </a:r>
            <a:endParaRPr lang="en-US" dirty="0"/>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61105256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r>
              <a:rPr lang="en-US"/>
              <a:t>9/8/20XX</a:t>
            </a:r>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Presentation Title</a:t>
            </a:r>
            <a:endParaRPr lang="en-US" dirty="0"/>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3408209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Presentation Title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r>
              <a:rPr lang="en-US"/>
              <a:t>9/8/20XX</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336026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73574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Presentation Title</a:t>
            </a:r>
            <a:endParaRPr lang="en-US" dirty="0"/>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r>
              <a:rPr lang="en-US"/>
              <a:t>9/8/20XX</a:t>
            </a:r>
            <a:endParaRPr lang="en-US" dirty="0"/>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FAEF9944-A4F6-4C59-AEBD-678D6480B8EA}" type="slidenum">
              <a:rPr lang="en-US" smtClean="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112753251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204422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11217165"/>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29757087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358478178"/>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09051574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61177334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404078058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894154840"/>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Presentation Title</a:t>
            </a:r>
            <a:endParaRPr lang="en-US" dirty="0"/>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7945545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r>
              <a:rPr lang="en-US"/>
              <a:t>9/8/20XX</a:t>
            </a:r>
            <a:endParaRPr lang="en-US" dirty="0"/>
          </a:p>
        </p:txBody>
      </p:sp>
      <p:sp>
        <p:nvSpPr>
          <p:cNvPr id="5" name="Footer Placeholder 5"/>
          <p:cNvSpPr>
            <a:spLocks noGrp="1"/>
          </p:cNvSpPr>
          <p:nvPr>
            <p:ph type="ftr" sz="quarter" idx="11"/>
          </p:nvPr>
        </p:nvSpPr>
        <p:spPr/>
        <p:txBody>
          <a:bodyPr/>
          <a:lstStyle/>
          <a:p>
            <a:r>
              <a:rPr lang="en-US"/>
              <a:t>Presentation Title</a:t>
            </a:r>
            <a:endParaRPr lang="en-US" dirty="0"/>
          </a:p>
        </p:txBody>
      </p:sp>
      <p:sp>
        <p:nvSpPr>
          <p:cNvPr id="6"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360191049"/>
      </p:ext>
    </p:extLst>
  </p:cSld>
  <p:clrMapOvr>
    <a:masterClrMapping/>
  </p:clrMapOvr>
  <p:hf sldNum="0" hdr="0" ft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r>
              <a:rPr lang="en-US"/>
              <a:t>9/8/20XX</a:t>
            </a:r>
            <a:endParaRPr lang="en-US" dirty="0"/>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11898935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Presentation Title</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r>
              <a:rPr lang="en-US"/>
              <a:t>9/8/20XX</a:t>
            </a:r>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FAEF9944-A4F6-4C59-AEBD-678D6480B8EA}" type="slidenum">
              <a:rPr lang="en-US" smtClean="0"/>
              <a:pPr/>
              <a:t>‹#›</a:t>
            </a:fld>
            <a:endParaRPr 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5310876"/>
      </p:ext>
    </p:extLst>
  </p:cSld>
  <p:clrMap bg1="lt1" tx1="dk1" bg2="lt2" tx2="dk2" accent1="accent1" accent2="accent2" accent3="accent3" accent4="accent4" accent5="accent5" accent6="accent6" hlink="hlink" folHlink="folHlink"/>
  <p:sldLayoutIdLst>
    <p:sldLayoutId id="2147484053" r:id="rId1"/>
    <p:sldLayoutId id="2147484054" r:id="rId2"/>
    <p:sldLayoutId id="2147484055" r:id="rId3"/>
    <p:sldLayoutId id="2147484056" r:id="rId4"/>
    <p:sldLayoutId id="2147484057" r:id="rId5"/>
    <p:sldLayoutId id="2147484058" r:id="rId6"/>
    <p:sldLayoutId id="2147484059" r:id="rId7"/>
    <p:sldLayoutId id="2147484060" r:id="rId8"/>
    <p:sldLayoutId id="2147484061" r:id="rId9"/>
    <p:sldLayoutId id="2147484062" r:id="rId10"/>
    <p:sldLayoutId id="2147484063" r:id="rId11"/>
    <p:sldLayoutId id="2147484064" r:id="rId12"/>
    <p:sldLayoutId id="2147484065" r:id="rId13"/>
    <p:sldLayoutId id="2147484066" r:id="rId14"/>
    <p:sldLayoutId id="2147484067" r:id="rId15"/>
    <p:sldLayoutId id="2147484068" r:id="rId16"/>
    <p:sldLayoutId id="2147484069" r:id="rId17"/>
    <p:sldLayoutId id="2147484070" r:id="rId18"/>
    <p:sldLayoutId id="2147484071" r:id="rId19"/>
    <p:sldLayoutId id="2147484072" r:id="rId20"/>
    <p:sldLayoutId id="2147484073" r:id="rId21"/>
    <p:sldLayoutId id="2147484074" r:id="rId22"/>
    <p:sldLayoutId id="2147484075" r:id="rId23"/>
    <p:sldLayoutId id="2147484076" r:id="rId24"/>
    <p:sldLayoutId id="2147484077" r:id="rId25"/>
    <p:sldLayoutId id="2147484078" r:id="rId26"/>
    <p:sldLayoutId id="2147484079" r:id="rId27"/>
    <p:sldLayoutId id="2147484081" r:id="rId28"/>
    <p:sldLayoutId id="2147484082" r:id="rId29"/>
  </p:sldLayoutIdLst>
  <p:hf sldNum="0"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9.xml"/><Relationship Id="rId1" Type="http://schemas.openxmlformats.org/officeDocument/2006/relationships/video" Target="https://www.youtube.com/embed/QwhK-iEyXYA?feature=oembed" TargetMode="External"/><Relationship Id="rId5" Type="http://schemas.openxmlformats.org/officeDocument/2006/relationships/hyperlink" Target="https://youtu.be/QwhK-iEyXYA" TargetMode="Externa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8.xml"/><Relationship Id="rId1" Type="http://schemas.openxmlformats.org/officeDocument/2006/relationships/video" Target="https://www.youtube.com/embed/Kzd6Ew3TraA?feature=oembed" TargetMode="External"/><Relationship Id="rId5" Type="http://schemas.openxmlformats.org/officeDocument/2006/relationships/hyperlink" Target="https://youtu.be/Kzd6Ew3TraA" TargetMode="Externa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29.xml"/><Relationship Id="rId7" Type="http://schemas.openxmlformats.org/officeDocument/2006/relationships/hyperlink" Target="https://soundcloud.com/xander-470783300/labov-dod-recreation" TargetMode="Externa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hyperlink" Target="https://www.degruyter.com/document/doi/10.1515/9781474472968-006/pdf?licenseType=restricted" TargetMode="External"/><Relationship Id="rId5" Type="http://schemas.openxmlformats.org/officeDocument/2006/relationships/image" Target="../media/image15.png"/><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3" Type="http://schemas.openxmlformats.org/officeDocument/2006/relationships/hyperlink" Target="https://www.newyorker.com/magazine/2021/04/19/how-did-a-self-taught-linguist-come-to-own-an-indigenous-languag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1.jp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FD658-EBD9-222F-C4E2-C1EB5FF82E6D}"/>
              </a:ext>
            </a:extLst>
          </p:cNvPr>
          <p:cNvSpPr>
            <a:spLocks noGrp="1"/>
          </p:cNvSpPr>
          <p:nvPr>
            <p:ph type="title"/>
          </p:nvPr>
        </p:nvSpPr>
        <p:spPr/>
        <p:txBody>
          <a:bodyPr/>
          <a:lstStyle/>
          <a:p>
            <a:r>
              <a:rPr lang="en-US" dirty="0"/>
              <a:t>What Methods and ethics of Inquiry are used in linguistics research?</a:t>
            </a:r>
          </a:p>
        </p:txBody>
      </p:sp>
      <p:sp>
        <p:nvSpPr>
          <p:cNvPr id="3" name="TextBox 2">
            <a:extLst>
              <a:ext uri="{FF2B5EF4-FFF2-40B4-BE49-F238E27FC236}">
                <a16:creationId xmlns:a16="http://schemas.microsoft.com/office/drawing/2014/main" id="{E678FF85-CA5D-0F2A-F354-1CD5A4F35741}"/>
              </a:ext>
            </a:extLst>
          </p:cNvPr>
          <p:cNvSpPr txBox="1"/>
          <p:nvPr/>
        </p:nvSpPr>
        <p:spPr>
          <a:xfrm>
            <a:off x="9006629" y="5536799"/>
            <a:ext cx="2486899" cy="923330"/>
          </a:xfrm>
          <a:prstGeom prst="rect">
            <a:avLst/>
          </a:prstGeom>
          <a:noFill/>
        </p:spPr>
        <p:txBody>
          <a:bodyPr wrap="none" rtlCol="0">
            <a:spAutoFit/>
          </a:bodyPr>
          <a:lstStyle/>
          <a:p>
            <a:pPr algn="r"/>
            <a:r>
              <a:rPr lang="en-US" dirty="0"/>
              <a:t>Grace Anderson</a:t>
            </a:r>
          </a:p>
          <a:p>
            <a:pPr algn="r"/>
            <a:r>
              <a:rPr lang="en-US" dirty="0"/>
              <a:t>Lin 211 Spotlight Lecture</a:t>
            </a:r>
          </a:p>
          <a:p>
            <a:pPr algn="r"/>
            <a:r>
              <a:rPr lang="en-US" dirty="0"/>
              <a:t>October 12, 2026</a:t>
            </a:r>
          </a:p>
        </p:txBody>
      </p:sp>
    </p:spTree>
    <p:extLst>
      <p:ext uri="{BB962C8B-B14F-4D97-AF65-F5344CB8AC3E}">
        <p14:creationId xmlns:p14="http://schemas.microsoft.com/office/powerpoint/2010/main" val="321741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2A222-1915-0A52-D54A-8A1B095788F4}"/>
              </a:ext>
            </a:extLst>
          </p:cNvPr>
          <p:cNvSpPr>
            <a:spLocks noGrp="1"/>
          </p:cNvSpPr>
          <p:nvPr>
            <p:ph type="title"/>
          </p:nvPr>
        </p:nvSpPr>
        <p:spPr/>
        <p:txBody>
          <a:bodyPr/>
          <a:lstStyle/>
          <a:p>
            <a:r>
              <a:rPr lang="en-US" dirty="0"/>
              <a:t>This is really two questions:</a:t>
            </a:r>
          </a:p>
        </p:txBody>
      </p:sp>
      <p:sp>
        <p:nvSpPr>
          <p:cNvPr id="3" name="Text Placeholder 2">
            <a:extLst>
              <a:ext uri="{FF2B5EF4-FFF2-40B4-BE49-F238E27FC236}">
                <a16:creationId xmlns:a16="http://schemas.microsoft.com/office/drawing/2014/main" id="{5308C265-D56A-E0CE-6D4A-22CB52E2B1E1}"/>
              </a:ext>
            </a:extLst>
          </p:cNvPr>
          <p:cNvSpPr>
            <a:spLocks noGrp="1"/>
          </p:cNvSpPr>
          <p:nvPr>
            <p:ph type="body" idx="1"/>
          </p:nvPr>
        </p:nvSpPr>
        <p:spPr/>
        <p:txBody>
          <a:bodyPr/>
          <a:lstStyle/>
          <a:p>
            <a:r>
              <a:rPr lang="en-US" sz="2400" dirty="0"/>
              <a:t>methods</a:t>
            </a:r>
            <a:endParaRPr lang="en-US" dirty="0"/>
          </a:p>
        </p:txBody>
      </p:sp>
      <p:sp>
        <p:nvSpPr>
          <p:cNvPr id="4" name="Content Placeholder 3">
            <a:extLst>
              <a:ext uri="{FF2B5EF4-FFF2-40B4-BE49-F238E27FC236}">
                <a16:creationId xmlns:a16="http://schemas.microsoft.com/office/drawing/2014/main" id="{FACE95C6-1189-14E8-943B-489D45990497}"/>
              </a:ext>
            </a:extLst>
          </p:cNvPr>
          <p:cNvSpPr>
            <a:spLocks noGrp="1"/>
          </p:cNvSpPr>
          <p:nvPr>
            <p:ph sz="quarter" idx="15"/>
          </p:nvPr>
        </p:nvSpPr>
        <p:spPr/>
        <p:txBody>
          <a:bodyPr>
            <a:normAutofit/>
          </a:bodyPr>
          <a:lstStyle/>
          <a:p>
            <a:pPr marL="285750" indent="-285750">
              <a:buFont typeface="Arial" panose="020B0604020202020204" pitchFamily="34" charset="0"/>
              <a:buChar char="•"/>
            </a:pPr>
            <a:r>
              <a:rPr lang="en-US" sz="2000" dirty="0"/>
              <a:t>Once we have a research question, how do we go about answering it? </a:t>
            </a:r>
          </a:p>
        </p:txBody>
      </p:sp>
      <p:sp>
        <p:nvSpPr>
          <p:cNvPr id="5" name="Text Placeholder 4">
            <a:extLst>
              <a:ext uri="{FF2B5EF4-FFF2-40B4-BE49-F238E27FC236}">
                <a16:creationId xmlns:a16="http://schemas.microsoft.com/office/drawing/2014/main" id="{21F4150C-4476-D5A6-F629-CBDE3B1F5656}"/>
              </a:ext>
            </a:extLst>
          </p:cNvPr>
          <p:cNvSpPr>
            <a:spLocks noGrp="1"/>
          </p:cNvSpPr>
          <p:nvPr>
            <p:ph type="body" sz="quarter" idx="3"/>
          </p:nvPr>
        </p:nvSpPr>
        <p:spPr/>
        <p:txBody>
          <a:bodyPr/>
          <a:lstStyle/>
          <a:p>
            <a:r>
              <a:rPr lang="en-US" sz="2400" dirty="0"/>
              <a:t>ethics</a:t>
            </a:r>
            <a:endParaRPr lang="en-US" dirty="0"/>
          </a:p>
        </p:txBody>
      </p:sp>
      <p:sp>
        <p:nvSpPr>
          <p:cNvPr id="6" name="Content Placeholder 5">
            <a:extLst>
              <a:ext uri="{FF2B5EF4-FFF2-40B4-BE49-F238E27FC236}">
                <a16:creationId xmlns:a16="http://schemas.microsoft.com/office/drawing/2014/main" id="{2C889B91-E543-A783-7ACA-7530C455C06E}"/>
              </a:ext>
            </a:extLst>
          </p:cNvPr>
          <p:cNvSpPr>
            <a:spLocks noGrp="1"/>
          </p:cNvSpPr>
          <p:nvPr>
            <p:ph sz="quarter" idx="16"/>
          </p:nvPr>
        </p:nvSpPr>
        <p:spPr/>
        <p:txBody>
          <a:bodyPr>
            <a:normAutofit/>
          </a:bodyPr>
          <a:lstStyle/>
          <a:p>
            <a:pPr marL="285750" indent="-285750">
              <a:buFont typeface="Arial" panose="020B0604020202020204" pitchFamily="34" charset="0"/>
              <a:buChar char="•"/>
            </a:pPr>
            <a:r>
              <a:rPr lang="en-US" sz="2000" dirty="0"/>
              <a:t>How can we design our research in a way that minimizes harm?</a:t>
            </a:r>
          </a:p>
        </p:txBody>
      </p:sp>
    </p:spTree>
    <p:extLst>
      <p:ext uri="{BB962C8B-B14F-4D97-AF65-F5344CB8AC3E}">
        <p14:creationId xmlns:p14="http://schemas.microsoft.com/office/powerpoint/2010/main" val="300131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D512C-CBC7-7869-8CE8-8654ED43FC96}"/>
              </a:ext>
            </a:extLst>
          </p:cNvPr>
          <p:cNvSpPr>
            <a:spLocks noGrp="1"/>
          </p:cNvSpPr>
          <p:nvPr>
            <p:ph type="title"/>
          </p:nvPr>
        </p:nvSpPr>
        <p:spPr/>
        <p:txBody>
          <a:bodyPr/>
          <a:lstStyle/>
          <a:p>
            <a:r>
              <a:rPr lang="en-US" dirty="0"/>
              <a:t>LING LINK: </a:t>
            </a:r>
            <a:br>
              <a:rPr lang="en-US" dirty="0"/>
            </a:br>
            <a:br>
              <a:rPr lang="en-US" dirty="0"/>
            </a:br>
            <a:r>
              <a:rPr lang="en-US" dirty="0"/>
              <a:t>THINK BACK TO THE FIRST SPOTLIGHT LECTURE</a:t>
            </a:r>
          </a:p>
        </p:txBody>
      </p:sp>
      <p:sp>
        <p:nvSpPr>
          <p:cNvPr id="3" name="Content Placeholder 2">
            <a:extLst>
              <a:ext uri="{FF2B5EF4-FFF2-40B4-BE49-F238E27FC236}">
                <a16:creationId xmlns:a16="http://schemas.microsoft.com/office/drawing/2014/main" id="{09E94C7D-AA88-DC95-F7B2-3A9D0E84E7E2}"/>
              </a:ext>
            </a:extLst>
          </p:cNvPr>
          <p:cNvSpPr>
            <a:spLocks noGrp="1"/>
          </p:cNvSpPr>
          <p:nvPr>
            <p:ph sz="quarter" idx="13"/>
          </p:nvPr>
        </p:nvSpPr>
        <p:spPr>
          <a:xfrm>
            <a:off x="4666926" y="841248"/>
            <a:ext cx="6260154" cy="5720190"/>
          </a:xfrm>
        </p:spPr>
        <p:txBody>
          <a:bodyPr>
            <a:normAutofit/>
          </a:bodyPr>
          <a:lstStyle/>
          <a:p>
            <a:r>
              <a:rPr lang="en-US" sz="2800" dirty="0"/>
              <a:t>Research question: “Where, exactly, do people use different words for a carbonated beverage?”</a:t>
            </a:r>
          </a:p>
          <a:p>
            <a:r>
              <a:rPr lang="en-US" sz="2000" dirty="0"/>
              <a:t>With the people around you, brainstorm for 2-3 minutes some ways that you can go about answering this question. </a:t>
            </a:r>
          </a:p>
          <a:p>
            <a:r>
              <a:rPr lang="en-US" sz="2000" dirty="0"/>
              <a:t>Be specific! “Ask them” is not enough detail…</a:t>
            </a:r>
          </a:p>
          <a:p>
            <a:pPr marL="285750" indent="-285750">
              <a:buFont typeface="Arial" panose="020B0604020202020204" pitchFamily="34" charset="0"/>
              <a:buChar char="•"/>
            </a:pPr>
            <a:r>
              <a:rPr lang="en-US" sz="2000" dirty="0"/>
              <a:t>Who are you asking?</a:t>
            </a:r>
          </a:p>
          <a:p>
            <a:pPr marL="285750" indent="-285750">
              <a:buFont typeface="Arial" panose="020B0604020202020204" pitchFamily="34" charset="0"/>
              <a:buChar char="•"/>
            </a:pPr>
            <a:r>
              <a:rPr lang="en-US" sz="2000" dirty="0"/>
              <a:t>How are you asking them?</a:t>
            </a:r>
          </a:p>
          <a:p>
            <a:pPr marL="285750" indent="-285750">
              <a:buFont typeface="Arial" panose="020B0604020202020204" pitchFamily="34" charset="0"/>
              <a:buChar char="•"/>
            </a:pPr>
            <a:r>
              <a:rPr lang="en-US" sz="2000" dirty="0"/>
              <a:t>What question are you asking? </a:t>
            </a:r>
          </a:p>
          <a:p>
            <a:pPr marL="285750" indent="-285750">
              <a:buFont typeface="Arial" panose="020B0604020202020204" pitchFamily="34" charset="0"/>
              <a:buChar char="•"/>
            </a:pPr>
            <a:r>
              <a:rPr lang="en-US" sz="2000" dirty="0"/>
              <a:t>etc.</a:t>
            </a:r>
          </a:p>
          <a:p>
            <a:endParaRPr lang="en-US" dirty="0"/>
          </a:p>
          <a:p>
            <a:r>
              <a:rPr lang="en-US" dirty="0"/>
              <a:t> </a:t>
            </a:r>
          </a:p>
        </p:txBody>
      </p:sp>
    </p:spTree>
    <p:extLst>
      <p:ext uri="{BB962C8B-B14F-4D97-AF65-F5344CB8AC3E}">
        <p14:creationId xmlns:p14="http://schemas.microsoft.com/office/powerpoint/2010/main" val="1986098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D56F4-7226-81F3-E7FF-108CFB8CC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BFA71-E97F-F62C-6F81-2BAD55BE3F11}"/>
              </a:ext>
            </a:extLst>
          </p:cNvPr>
          <p:cNvSpPr>
            <a:spLocks noGrp="1"/>
          </p:cNvSpPr>
          <p:nvPr>
            <p:ph type="title"/>
          </p:nvPr>
        </p:nvSpPr>
        <p:spPr/>
        <p:txBody>
          <a:bodyPr>
            <a:normAutofit fontScale="90000"/>
          </a:bodyPr>
          <a:lstStyle/>
          <a:p>
            <a:r>
              <a:rPr lang="en-US" dirty="0"/>
              <a:t>Methods:</a:t>
            </a:r>
            <a:br>
              <a:rPr lang="en-US" dirty="0"/>
            </a:br>
            <a:r>
              <a:rPr lang="en-US" dirty="0"/>
              <a:t>How do we answer questions?</a:t>
            </a:r>
          </a:p>
        </p:txBody>
      </p:sp>
      <p:pic>
        <p:nvPicPr>
          <p:cNvPr id="7" name="Online Media 6" title="Sociology Research Methods: Crash Course Sociology #4">
            <a:hlinkClick r:id="" action="ppaction://media"/>
            <a:extLst>
              <a:ext uri="{FF2B5EF4-FFF2-40B4-BE49-F238E27FC236}">
                <a16:creationId xmlns:a16="http://schemas.microsoft.com/office/drawing/2014/main" id="{B8903147-9F5F-FF88-6C29-776916F7C6C6}"/>
              </a:ext>
            </a:extLst>
          </p:cNvPr>
          <p:cNvPicPr>
            <a:picLocks noGrp="1" noRot="1" noChangeAspect="1"/>
          </p:cNvPicPr>
          <p:nvPr>
            <p:ph sz="half" idx="1"/>
            <a:videoFile r:link="rId1"/>
          </p:nvPr>
        </p:nvPicPr>
        <p:blipFill>
          <a:blip r:embed="rId4"/>
          <a:stretch>
            <a:fillRect/>
          </a:stretch>
        </p:blipFill>
        <p:spPr>
          <a:xfrm>
            <a:off x="484188" y="2181225"/>
            <a:ext cx="3554412" cy="2665809"/>
          </a:xfrm>
          <a:prstGeom prst="rect">
            <a:avLst/>
          </a:prstGeom>
        </p:spPr>
      </p:pic>
      <p:sp>
        <p:nvSpPr>
          <p:cNvPr id="4" name="Content Placeholder 3">
            <a:extLst>
              <a:ext uri="{FF2B5EF4-FFF2-40B4-BE49-F238E27FC236}">
                <a16:creationId xmlns:a16="http://schemas.microsoft.com/office/drawing/2014/main" id="{8CC8BBCF-0AD1-C255-DFCC-B54691BF9B94}"/>
              </a:ext>
            </a:extLst>
          </p:cNvPr>
          <p:cNvSpPr>
            <a:spLocks noGrp="1"/>
          </p:cNvSpPr>
          <p:nvPr>
            <p:ph sz="half" idx="2"/>
          </p:nvPr>
        </p:nvSpPr>
        <p:spPr>
          <a:xfrm>
            <a:off x="4636029" y="2064723"/>
            <a:ext cx="5403321" cy="4244236"/>
          </a:xfrm>
        </p:spPr>
        <p:txBody>
          <a:bodyPr/>
          <a:lstStyle/>
          <a:p>
            <a:r>
              <a:rPr lang="en-US" sz="2400" dirty="0"/>
              <a:t>The research method: </a:t>
            </a:r>
          </a:p>
          <a:p>
            <a:pPr marL="342900" indent="-342900">
              <a:buAutoNum type="arabicPeriod"/>
            </a:pPr>
            <a:r>
              <a:rPr lang="en-US" sz="2400" dirty="0"/>
              <a:t>Start with a question</a:t>
            </a:r>
          </a:p>
          <a:p>
            <a:pPr marL="342900" indent="-342900">
              <a:buAutoNum type="arabicPeriod"/>
            </a:pPr>
            <a:r>
              <a:rPr lang="en-US" sz="2400" dirty="0"/>
              <a:t>State a hypothesis</a:t>
            </a:r>
          </a:p>
          <a:p>
            <a:pPr marL="342900" indent="-342900">
              <a:buAutoNum type="arabicPeriod"/>
            </a:pPr>
            <a:r>
              <a:rPr lang="en-US" sz="2400" dirty="0"/>
              <a:t>Collect data</a:t>
            </a:r>
          </a:p>
          <a:p>
            <a:pPr marL="342900" indent="-342900">
              <a:buAutoNum type="arabicPeriod"/>
            </a:pPr>
            <a:r>
              <a:rPr lang="en-US" sz="2400" dirty="0"/>
              <a:t>Use your data to test your hypothesis</a:t>
            </a:r>
            <a:endParaRPr lang="en-US" dirty="0"/>
          </a:p>
          <a:p>
            <a:pPr marL="342900" indent="-342900">
              <a:buAutoNum type="arabicPeriod"/>
            </a:pPr>
            <a:endParaRPr lang="en-US" dirty="0"/>
          </a:p>
        </p:txBody>
      </p:sp>
      <p:sp>
        <p:nvSpPr>
          <p:cNvPr id="3" name="TextBox 2">
            <a:extLst>
              <a:ext uri="{FF2B5EF4-FFF2-40B4-BE49-F238E27FC236}">
                <a16:creationId xmlns:a16="http://schemas.microsoft.com/office/drawing/2014/main" id="{0037EF82-73E3-AF85-A49C-EB3785683C9B}"/>
              </a:ext>
            </a:extLst>
          </p:cNvPr>
          <p:cNvSpPr txBox="1"/>
          <p:nvPr/>
        </p:nvSpPr>
        <p:spPr>
          <a:xfrm>
            <a:off x="9057488" y="63499"/>
            <a:ext cx="3134512" cy="369332"/>
          </a:xfrm>
          <a:prstGeom prst="rect">
            <a:avLst/>
          </a:prstGeom>
          <a:noFill/>
        </p:spPr>
        <p:txBody>
          <a:bodyPr wrap="none" rtlCol="0">
            <a:spAutoFit/>
          </a:bodyPr>
          <a:lstStyle/>
          <a:p>
            <a:r>
              <a:rPr lang="en-US" b="0" i="0" u="none" strike="noStrike" dirty="0">
                <a:solidFill>
                  <a:srgbClr val="0070C0"/>
                </a:solidFill>
                <a:effectLst/>
                <a:latin typeface="YouTube Noto"/>
                <a:hlinkClick r:id="rId5">
                  <a:extLst>
                    <a:ext uri="{A12FA001-AC4F-418D-AE19-62706E023703}">
                      <ahyp:hlinkClr xmlns:ahyp="http://schemas.microsoft.com/office/drawing/2018/hyperlinkcolor" val="tx"/>
                    </a:ext>
                  </a:extLst>
                </a:hlinkClick>
              </a:rPr>
              <a:t>https://youtu.be/QwhK-iEyXYA</a:t>
            </a:r>
            <a:r>
              <a:rPr lang="en-US" b="0" i="0" u="none" strike="noStrike" dirty="0">
                <a:solidFill>
                  <a:srgbClr val="0070C0"/>
                </a:solidFill>
                <a:effectLst/>
                <a:latin typeface="YouTube Noto"/>
              </a:rPr>
              <a:t> </a:t>
            </a:r>
            <a:endParaRPr lang="en-US" dirty="0">
              <a:solidFill>
                <a:srgbClr val="0070C0"/>
              </a:solidFill>
            </a:endParaRPr>
          </a:p>
        </p:txBody>
      </p:sp>
      <p:sp>
        <p:nvSpPr>
          <p:cNvPr id="6" name="TextBox 5">
            <a:extLst>
              <a:ext uri="{FF2B5EF4-FFF2-40B4-BE49-F238E27FC236}">
                <a16:creationId xmlns:a16="http://schemas.microsoft.com/office/drawing/2014/main" id="{548E0256-44D0-4C98-AC64-1A3FBB55C119}"/>
              </a:ext>
            </a:extLst>
          </p:cNvPr>
          <p:cNvSpPr txBox="1"/>
          <p:nvPr/>
        </p:nvSpPr>
        <p:spPr>
          <a:xfrm>
            <a:off x="484188" y="4940174"/>
            <a:ext cx="3554412" cy="923330"/>
          </a:xfrm>
          <a:prstGeom prst="rect">
            <a:avLst/>
          </a:prstGeom>
          <a:noFill/>
        </p:spPr>
        <p:txBody>
          <a:bodyPr wrap="square">
            <a:spAutoFit/>
          </a:bodyPr>
          <a:lstStyle/>
          <a:p>
            <a:r>
              <a:rPr lang="en-US" sz="1800" dirty="0"/>
              <a:t>This video is specifically for sociology, but we use the same processes in Linguistics!</a:t>
            </a:r>
          </a:p>
        </p:txBody>
      </p:sp>
    </p:spTree>
    <p:extLst>
      <p:ext uri="{BB962C8B-B14F-4D97-AF65-F5344CB8AC3E}">
        <p14:creationId xmlns:p14="http://schemas.microsoft.com/office/powerpoint/2010/main" val="390853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51662-7BF1-2976-2B86-F85C869B58D5}"/>
              </a:ext>
            </a:extLst>
          </p:cNvPr>
          <p:cNvSpPr>
            <a:spLocks noGrp="1"/>
          </p:cNvSpPr>
          <p:nvPr>
            <p:ph type="title"/>
          </p:nvPr>
        </p:nvSpPr>
        <p:spPr/>
        <p:txBody>
          <a:bodyPr>
            <a:normAutofit fontScale="90000"/>
          </a:bodyPr>
          <a:lstStyle/>
          <a:p>
            <a:r>
              <a:rPr lang="en-US" dirty="0"/>
              <a:t>Where, exactly, do people use different words for a carbonated beverage?</a:t>
            </a:r>
          </a:p>
        </p:txBody>
      </p:sp>
      <p:sp>
        <p:nvSpPr>
          <p:cNvPr id="3" name="Text Placeholder 2">
            <a:extLst>
              <a:ext uri="{FF2B5EF4-FFF2-40B4-BE49-F238E27FC236}">
                <a16:creationId xmlns:a16="http://schemas.microsoft.com/office/drawing/2014/main" id="{6BFF41E0-5253-21A9-1F33-55DB38AAC9B6}"/>
              </a:ext>
            </a:extLst>
          </p:cNvPr>
          <p:cNvSpPr>
            <a:spLocks noGrp="1"/>
          </p:cNvSpPr>
          <p:nvPr>
            <p:ph type="body" sz="quarter" idx="15"/>
          </p:nvPr>
        </p:nvSpPr>
        <p:spPr/>
        <p:txBody>
          <a:bodyPr/>
          <a:lstStyle/>
          <a:p>
            <a:r>
              <a:rPr lang="en-US" dirty="0"/>
              <a:t>A specific, practical research question based on previous research:</a:t>
            </a:r>
          </a:p>
        </p:txBody>
      </p:sp>
      <p:pic>
        <p:nvPicPr>
          <p:cNvPr id="4" name="Picture 3" descr="Soda Can Png">
            <a:extLst>
              <a:ext uri="{FF2B5EF4-FFF2-40B4-BE49-F238E27FC236}">
                <a16:creationId xmlns:a16="http://schemas.microsoft.com/office/drawing/2014/main" id="{C4064F74-02BD-D914-C464-7FCB4460424F}"/>
              </a:ext>
            </a:extLst>
          </p:cNvPr>
          <p:cNvPicPr>
            <a:picLocks noChangeAspect="1"/>
          </p:cNvPicPr>
          <p:nvPr/>
        </p:nvPicPr>
        <p:blipFill>
          <a:blip r:embed="rId3"/>
          <a:stretch>
            <a:fillRect/>
          </a:stretch>
        </p:blipFill>
        <p:spPr>
          <a:xfrm>
            <a:off x="8317485" y="2578608"/>
            <a:ext cx="3404438" cy="2838450"/>
          </a:xfrm>
          <a:prstGeom prst="rect">
            <a:avLst/>
          </a:prstGeom>
        </p:spPr>
      </p:pic>
    </p:spTree>
    <p:extLst>
      <p:ext uri="{BB962C8B-B14F-4D97-AF65-F5344CB8AC3E}">
        <p14:creationId xmlns:p14="http://schemas.microsoft.com/office/powerpoint/2010/main" val="4064506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ECF163-E4F9-A35D-D4BC-8CBB5ECC1918}"/>
              </a:ext>
            </a:extLst>
          </p:cNvPr>
          <p:cNvSpPr>
            <a:spLocks noGrp="1"/>
          </p:cNvSpPr>
          <p:nvPr>
            <p:ph idx="1"/>
          </p:nvPr>
        </p:nvSpPr>
        <p:spPr/>
        <p:txBody>
          <a:bodyPr>
            <a:normAutofit/>
          </a:bodyPr>
          <a:lstStyle/>
          <a:p>
            <a:pPr marL="285750" indent="-285750">
              <a:buFont typeface="Arial" panose="020B0604020202020204" pitchFamily="34" charset="0"/>
              <a:buChar char="•"/>
            </a:pPr>
            <a:r>
              <a:rPr lang="en-US" sz="2400" dirty="0"/>
              <a:t>Define and operationalize your variables:</a:t>
            </a:r>
          </a:p>
          <a:p>
            <a:pPr marL="285750" indent="-285750">
              <a:buFont typeface="Arial" panose="020B0604020202020204" pitchFamily="34" charset="0"/>
              <a:buChar char="•"/>
            </a:pPr>
            <a:endParaRPr lang="en-US" sz="2400" dirty="0"/>
          </a:p>
          <a:p>
            <a:endParaRPr lang="en-US" sz="2400" dirty="0"/>
          </a:p>
          <a:p>
            <a:endParaRPr lang="en-US" sz="2400" dirty="0"/>
          </a:p>
          <a:p>
            <a:endParaRPr lang="en-US" sz="2400" dirty="0"/>
          </a:p>
          <a:p>
            <a:endParaRPr lang="en-US" sz="500" dirty="0"/>
          </a:p>
          <a:p>
            <a:pPr marL="285750" indent="-285750">
              <a:buFont typeface="Arial" panose="020B0604020202020204" pitchFamily="34" charset="0"/>
              <a:buChar char="•"/>
            </a:pPr>
            <a:r>
              <a:rPr lang="en-US" sz="2400" dirty="0"/>
              <a:t>Make a hypothesis about the relationship between the variables:</a:t>
            </a:r>
          </a:p>
          <a:p>
            <a:r>
              <a:rPr lang="en-US" sz="2400" i="1" dirty="0"/>
              <a:t>“If a speaker is from a state in the Midwest, then they’ll be more likely to use the word “pop” to describe carbonated drinks.” </a:t>
            </a:r>
          </a:p>
          <a:p>
            <a:endParaRPr lang="en-US" sz="2400" dirty="0"/>
          </a:p>
        </p:txBody>
      </p:sp>
      <p:sp>
        <p:nvSpPr>
          <p:cNvPr id="9" name="Rectangle 8">
            <a:extLst>
              <a:ext uri="{FF2B5EF4-FFF2-40B4-BE49-F238E27FC236}">
                <a16:creationId xmlns:a16="http://schemas.microsoft.com/office/drawing/2014/main" id="{2E7115F2-98B6-A2E7-2E12-31B9A5007935}"/>
              </a:ext>
            </a:extLst>
          </p:cNvPr>
          <p:cNvSpPr/>
          <p:nvPr/>
        </p:nvSpPr>
        <p:spPr>
          <a:xfrm>
            <a:off x="2438400" y="5127528"/>
            <a:ext cx="3124200" cy="372185"/>
          </a:xfrm>
          <a:prstGeom prst="rect">
            <a:avLst/>
          </a:prstGeom>
          <a:solidFill>
            <a:schemeClr val="accent3">
              <a:lumMod val="60000"/>
              <a:lumOff val="40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E85966B-5FE8-7927-C5AF-085827E2DC33}"/>
              </a:ext>
            </a:extLst>
          </p:cNvPr>
          <p:cNvSpPr/>
          <p:nvPr/>
        </p:nvSpPr>
        <p:spPr>
          <a:xfrm>
            <a:off x="8674037" y="5189176"/>
            <a:ext cx="2159126" cy="372185"/>
          </a:xfrm>
          <a:prstGeom prst="rect">
            <a:avLst/>
          </a:prstGeom>
          <a:solidFill>
            <a:srgbClr val="C2BC8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231339-459B-0A6D-12FC-91A1970FF9B1}"/>
              </a:ext>
            </a:extLst>
          </p:cNvPr>
          <p:cNvSpPr>
            <a:spLocks noGrp="1"/>
          </p:cNvSpPr>
          <p:nvPr>
            <p:ph type="title"/>
          </p:nvPr>
        </p:nvSpPr>
        <p:spPr/>
        <p:txBody>
          <a:bodyPr/>
          <a:lstStyle/>
          <a:p>
            <a:r>
              <a:rPr lang="en-US" dirty="0"/>
              <a:t>State a hypothesis</a:t>
            </a:r>
          </a:p>
        </p:txBody>
      </p:sp>
      <p:sp>
        <p:nvSpPr>
          <p:cNvPr id="5" name="Rectangle 4">
            <a:extLst>
              <a:ext uri="{FF2B5EF4-FFF2-40B4-BE49-F238E27FC236}">
                <a16:creationId xmlns:a16="http://schemas.microsoft.com/office/drawing/2014/main" id="{54D4A765-3344-CB58-E340-3644E6B7D3A1}"/>
              </a:ext>
            </a:extLst>
          </p:cNvPr>
          <p:cNvSpPr/>
          <p:nvPr/>
        </p:nvSpPr>
        <p:spPr>
          <a:xfrm>
            <a:off x="4562475" y="2250493"/>
            <a:ext cx="2266950" cy="15049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Variant</a:t>
            </a:r>
          </a:p>
        </p:txBody>
      </p:sp>
      <p:sp>
        <p:nvSpPr>
          <p:cNvPr id="6" name="Rectangle 5">
            <a:extLst>
              <a:ext uri="{FF2B5EF4-FFF2-40B4-BE49-F238E27FC236}">
                <a16:creationId xmlns:a16="http://schemas.microsoft.com/office/drawing/2014/main" id="{F29EAF5D-C85D-6EFF-95D4-CDD6F103BF7E}"/>
              </a:ext>
            </a:extLst>
          </p:cNvPr>
          <p:cNvSpPr/>
          <p:nvPr/>
        </p:nvSpPr>
        <p:spPr>
          <a:xfrm>
            <a:off x="1800225" y="2250493"/>
            <a:ext cx="2266950" cy="150495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Region</a:t>
            </a:r>
          </a:p>
        </p:txBody>
      </p:sp>
      <p:sp>
        <p:nvSpPr>
          <p:cNvPr id="7" name="Rectangle 6">
            <a:extLst>
              <a:ext uri="{FF2B5EF4-FFF2-40B4-BE49-F238E27FC236}">
                <a16:creationId xmlns:a16="http://schemas.microsoft.com/office/drawing/2014/main" id="{91D4F7B2-6E62-07C0-FCC9-728F5E0FEC23}"/>
              </a:ext>
            </a:extLst>
          </p:cNvPr>
          <p:cNvSpPr/>
          <p:nvPr/>
        </p:nvSpPr>
        <p:spPr>
          <a:xfrm>
            <a:off x="1800225" y="2250493"/>
            <a:ext cx="2266950" cy="1504950"/>
          </a:xfrm>
          <a:prstGeom prst="rect">
            <a:avLst/>
          </a:prstGeom>
          <a:solidFill>
            <a:schemeClr val="accent3">
              <a:lumMod val="60000"/>
              <a:lumOff val="4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solidFill>
              </a:rPr>
              <a:t>Region: </a:t>
            </a:r>
          </a:p>
          <a:p>
            <a:pPr algn="ctr"/>
            <a:endParaRPr lang="en-US" dirty="0">
              <a:solidFill>
                <a:schemeClr val="tx1"/>
              </a:solidFill>
            </a:endParaRPr>
          </a:p>
          <a:p>
            <a:pPr algn="ctr"/>
            <a:r>
              <a:rPr lang="en-US" dirty="0">
                <a:solidFill>
                  <a:schemeClr val="tx1"/>
                </a:solidFill>
              </a:rPr>
              <a:t>State of origin</a:t>
            </a:r>
          </a:p>
        </p:txBody>
      </p:sp>
      <p:sp>
        <p:nvSpPr>
          <p:cNvPr id="8" name="Rectangle 7">
            <a:extLst>
              <a:ext uri="{FF2B5EF4-FFF2-40B4-BE49-F238E27FC236}">
                <a16:creationId xmlns:a16="http://schemas.microsoft.com/office/drawing/2014/main" id="{CF96D6A8-AA67-D46F-80C3-1468644E5989}"/>
              </a:ext>
            </a:extLst>
          </p:cNvPr>
          <p:cNvSpPr/>
          <p:nvPr/>
        </p:nvSpPr>
        <p:spPr>
          <a:xfrm>
            <a:off x="4562475" y="2250493"/>
            <a:ext cx="2266950" cy="15049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Variant: </a:t>
            </a:r>
          </a:p>
          <a:p>
            <a:pPr algn="ctr"/>
            <a:endParaRPr lang="en-US" dirty="0">
              <a:solidFill>
                <a:schemeClr val="tx1"/>
              </a:solidFill>
            </a:endParaRPr>
          </a:p>
          <a:p>
            <a:pPr algn="ctr"/>
            <a:r>
              <a:rPr lang="en-US" dirty="0">
                <a:solidFill>
                  <a:schemeClr val="tx1"/>
                </a:solidFill>
              </a:rPr>
              <a:t>Soda, pop, coke, fizzy drink, soft drink, etc.</a:t>
            </a:r>
          </a:p>
        </p:txBody>
      </p:sp>
      <p:sp>
        <p:nvSpPr>
          <p:cNvPr id="11" name="TextBox 10">
            <a:extLst>
              <a:ext uri="{FF2B5EF4-FFF2-40B4-BE49-F238E27FC236}">
                <a16:creationId xmlns:a16="http://schemas.microsoft.com/office/drawing/2014/main" id="{AAFE8C12-F2D9-FB95-A3C1-150A251E6F28}"/>
              </a:ext>
            </a:extLst>
          </p:cNvPr>
          <p:cNvSpPr txBox="1"/>
          <p:nvPr/>
        </p:nvSpPr>
        <p:spPr>
          <a:xfrm>
            <a:off x="1800225" y="3935942"/>
            <a:ext cx="2266950" cy="446892"/>
          </a:xfrm>
          <a:prstGeom prst="rect">
            <a:avLst/>
          </a:prstGeom>
          <a:noFill/>
          <a:ln w="12700">
            <a:solidFill>
              <a:schemeClr val="accent3">
                <a:lumMod val="60000"/>
                <a:lumOff val="40000"/>
              </a:schemeClr>
            </a:solidFill>
          </a:ln>
        </p:spPr>
        <p:txBody>
          <a:bodyPr wrap="square" rtlCol="0">
            <a:spAutoFit/>
          </a:bodyPr>
          <a:lstStyle/>
          <a:p>
            <a:r>
              <a:rPr lang="en-US" dirty="0"/>
              <a:t>Independent variable</a:t>
            </a:r>
          </a:p>
        </p:txBody>
      </p:sp>
      <p:sp>
        <p:nvSpPr>
          <p:cNvPr id="12" name="TextBox 11">
            <a:extLst>
              <a:ext uri="{FF2B5EF4-FFF2-40B4-BE49-F238E27FC236}">
                <a16:creationId xmlns:a16="http://schemas.microsoft.com/office/drawing/2014/main" id="{AD131E0F-5375-E81E-5010-E07CB74CC54B}"/>
              </a:ext>
            </a:extLst>
          </p:cNvPr>
          <p:cNvSpPr txBox="1"/>
          <p:nvPr/>
        </p:nvSpPr>
        <p:spPr>
          <a:xfrm>
            <a:off x="4562475" y="3900365"/>
            <a:ext cx="2266950" cy="446892"/>
          </a:xfrm>
          <a:prstGeom prst="rect">
            <a:avLst/>
          </a:prstGeom>
          <a:noFill/>
          <a:ln w="12700">
            <a:solidFill>
              <a:schemeClr val="accent5"/>
            </a:solidFill>
          </a:ln>
        </p:spPr>
        <p:txBody>
          <a:bodyPr wrap="square" rtlCol="0">
            <a:spAutoFit/>
          </a:bodyPr>
          <a:lstStyle/>
          <a:p>
            <a:r>
              <a:rPr lang="en-US" dirty="0"/>
              <a:t>Dependent variable</a:t>
            </a:r>
          </a:p>
        </p:txBody>
      </p:sp>
    </p:spTree>
    <p:extLst>
      <p:ext uri="{BB962C8B-B14F-4D97-AF65-F5344CB8AC3E}">
        <p14:creationId xmlns:p14="http://schemas.microsoft.com/office/powerpoint/2010/main" val="131162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5" grpId="0" animBg="1"/>
      <p:bldP spid="6" grpId="0" animBg="1"/>
      <p:bldP spid="7" grpId="0" animBg="1"/>
      <p:bldP spid="8"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ECDD-AD9F-FBFD-00B8-8820BF289B4C}"/>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5CC573E6-EFC3-5F78-3CED-1B66BF7E6338}"/>
              </a:ext>
            </a:extLst>
          </p:cNvPr>
          <p:cNvSpPr/>
          <p:nvPr/>
        </p:nvSpPr>
        <p:spPr>
          <a:xfrm>
            <a:off x="6442710" y="1825724"/>
            <a:ext cx="5356860" cy="2574826"/>
          </a:xfrm>
          <a:prstGeom prst="rect">
            <a:avLst/>
          </a:prstGeom>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3D57C0-1CBC-835F-5B8F-CAD36DF3479E}"/>
              </a:ext>
            </a:extLst>
          </p:cNvPr>
          <p:cNvSpPr>
            <a:spLocks noGrp="1"/>
          </p:cNvSpPr>
          <p:nvPr>
            <p:ph type="title"/>
          </p:nvPr>
        </p:nvSpPr>
        <p:spPr/>
        <p:txBody>
          <a:bodyPr/>
          <a:lstStyle/>
          <a:p>
            <a:r>
              <a:rPr lang="en-US" dirty="0"/>
              <a:t>Methods of collecting data: </a:t>
            </a:r>
          </a:p>
        </p:txBody>
      </p:sp>
      <p:sp>
        <p:nvSpPr>
          <p:cNvPr id="3" name="Content Placeholder 2">
            <a:extLst>
              <a:ext uri="{FF2B5EF4-FFF2-40B4-BE49-F238E27FC236}">
                <a16:creationId xmlns:a16="http://schemas.microsoft.com/office/drawing/2014/main" id="{F76814E6-528A-89F1-2A8A-973D8D04FA44}"/>
              </a:ext>
            </a:extLst>
          </p:cNvPr>
          <p:cNvSpPr>
            <a:spLocks noGrp="1"/>
          </p:cNvSpPr>
          <p:nvPr>
            <p:ph idx="1"/>
          </p:nvPr>
        </p:nvSpPr>
        <p:spPr>
          <a:xfrm>
            <a:off x="731520" y="4537756"/>
            <a:ext cx="5364480" cy="1918316"/>
          </a:xfrm>
          <a:ln>
            <a:solidFill>
              <a:schemeClr val="tx1"/>
            </a:solidFill>
          </a:ln>
        </p:spPr>
        <p:txBody>
          <a:bodyPr>
            <a:normAutofit fontScale="92500" lnSpcReduction="20000"/>
          </a:bodyPr>
          <a:lstStyle/>
          <a:p>
            <a:r>
              <a:rPr lang="en-US" sz="2400" dirty="0"/>
              <a:t>Participant observation</a:t>
            </a:r>
          </a:p>
          <a:p>
            <a:pPr marL="342900" indent="-342900">
              <a:buFont typeface="Arial" panose="020B0604020202020204" pitchFamily="34" charset="0"/>
              <a:buChar char="•"/>
            </a:pPr>
            <a:r>
              <a:rPr lang="en-US" sz="2400" dirty="0"/>
              <a:t>Researchers observe people in their daily routines</a:t>
            </a:r>
          </a:p>
          <a:p>
            <a:pPr marL="342900" indent="-342900">
              <a:buFont typeface="Arial" panose="020B0604020202020204" pitchFamily="34" charset="0"/>
              <a:buChar char="•"/>
            </a:pPr>
            <a:r>
              <a:rPr lang="en-US" sz="2400" dirty="0"/>
              <a:t>Often, this method is exploratory and descriptive</a:t>
            </a:r>
          </a:p>
        </p:txBody>
      </p:sp>
      <p:sp>
        <p:nvSpPr>
          <p:cNvPr id="9" name="Content Placeholder 2">
            <a:extLst>
              <a:ext uri="{FF2B5EF4-FFF2-40B4-BE49-F238E27FC236}">
                <a16:creationId xmlns:a16="http://schemas.microsoft.com/office/drawing/2014/main" id="{91174848-E56D-14B3-90A9-5D8B3E07A96F}"/>
              </a:ext>
            </a:extLst>
          </p:cNvPr>
          <p:cNvSpPr txBox="1">
            <a:spLocks/>
          </p:cNvSpPr>
          <p:nvPr/>
        </p:nvSpPr>
        <p:spPr>
          <a:xfrm>
            <a:off x="731520" y="1825724"/>
            <a:ext cx="5364480" cy="2384326"/>
          </a:xfrm>
          <a:prstGeom prst="rect">
            <a:avLst/>
          </a:prstGeom>
          <a:ln>
            <a:solidFill>
              <a:schemeClr val="tx1"/>
            </a:solidFill>
          </a:ln>
        </p:spPr>
        <p:txBody>
          <a:bodyPr vert="horz" lIns="91440" tIns="45720" rIns="91440" bIns="45720" rtlCol="0">
            <a:normAutofit fontScale="92500" lnSpcReduction="10000"/>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Experiments</a:t>
            </a:r>
          </a:p>
          <a:p>
            <a:pPr marL="342900" indent="-342900">
              <a:buFont typeface="Arial" panose="020B0604020202020204" pitchFamily="34" charset="0"/>
              <a:buChar char="•"/>
            </a:pPr>
            <a:r>
              <a:rPr lang="en-US" sz="2400" dirty="0"/>
              <a:t>Participants are divided into a control group and experimental group(s)</a:t>
            </a:r>
          </a:p>
          <a:p>
            <a:pPr marL="342900" indent="-342900">
              <a:buFont typeface="Arial" panose="020B0604020202020204" pitchFamily="34" charset="0"/>
              <a:buChar char="•"/>
            </a:pPr>
            <a:r>
              <a:rPr lang="en-US" sz="2400" dirty="0"/>
              <a:t>Researchers manipulate the independent variable(s) and then measure the dependent variable(s)</a:t>
            </a:r>
          </a:p>
        </p:txBody>
      </p:sp>
      <p:sp>
        <p:nvSpPr>
          <p:cNvPr id="10" name="Content Placeholder 2">
            <a:extLst>
              <a:ext uri="{FF2B5EF4-FFF2-40B4-BE49-F238E27FC236}">
                <a16:creationId xmlns:a16="http://schemas.microsoft.com/office/drawing/2014/main" id="{2EFFE995-CDD3-FDFE-83BD-F851BA4802E6}"/>
              </a:ext>
            </a:extLst>
          </p:cNvPr>
          <p:cNvSpPr txBox="1">
            <a:spLocks/>
          </p:cNvSpPr>
          <p:nvPr/>
        </p:nvSpPr>
        <p:spPr>
          <a:xfrm>
            <a:off x="6435090" y="4686298"/>
            <a:ext cx="5364480" cy="1769772"/>
          </a:xfrm>
          <a:prstGeom prst="rect">
            <a:avLst/>
          </a:prstGeom>
          <a:ln>
            <a:solidFill>
              <a:schemeClr val="tx1"/>
            </a:solidFill>
          </a:ln>
        </p:spPr>
        <p:txBody>
          <a:bodyPr vert="horz" lIns="91440" tIns="45720" rIns="91440" bIns="45720" rtlCol="0">
            <a:normAutofit lnSpcReduction="10000"/>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Existing resources</a:t>
            </a:r>
          </a:p>
          <a:p>
            <a:pPr marL="342900" indent="-342900">
              <a:buFont typeface="Arial" panose="020B0604020202020204" pitchFamily="34" charset="0"/>
              <a:buChar char="•"/>
            </a:pPr>
            <a:r>
              <a:rPr lang="en-US" sz="2400" dirty="0"/>
              <a:t>Researchers use existing data collected by others (e.g. government agencies or other researchers) </a:t>
            </a:r>
          </a:p>
        </p:txBody>
      </p:sp>
      <p:sp>
        <p:nvSpPr>
          <p:cNvPr id="11" name="Content Placeholder 2">
            <a:extLst>
              <a:ext uri="{FF2B5EF4-FFF2-40B4-BE49-F238E27FC236}">
                <a16:creationId xmlns:a16="http://schemas.microsoft.com/office/drawing/2014/main" id="{2407EB37-BAB6-9443-40AD-F6B35CBE424A}"/>
              </a:ext>
            </a:extLst>
          </p:cNvPr>
          <p:cNvSpPr txBox="1">
            <a:spLocks/>
          </p:cNvSpPr>
          <p:nvPr/>
        </p:nvSpPr>
        <p:spPr>
          <a:xfrm>
            <a:off x="6442710" y="1825724"/>
            <a:ext cx="5364480" cy="2574826"/>
          </a:xfrm>
          <a:prstGeom prst="rect">
            <a:avLst/>
          </a:prstGeom>
          <a:ln>
            <a:solidFill>
              <a:schemeClr val="tx1"/>
            </a:solidFill>
          </a:ln>
        </p:spPr>
        <p:txBody>
          <a:bodyPr vert="horz" lIns="91440" tIns="45720" rIns="91440" bIns="45720" rtlCol="0">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Surveys</a:t>
            </a:r>
          </a:p>
          <a:p>
            <a:pPr marL="342900" indent="-342900">
              <a:buFont typeface="Arial" panose="020B0604020202020204" pitchFamily="34" charset="0"/>
              <a:buChar char="•"/>
            </a:pPr>
            <a:r>
              <a:rPr lang="en-US" sz="2400" dirty="0"/>
              <a:t>Participants respond to a prepared set of questions</a:t>
            </a:r>
          </a:p>
          <a:p>
            <a:pPr marL="342900" indent="-342900">
              <a:buFont typeface="Arial" panose="020B0604020202020204" pitchFamily="34" charset="0"/>
              <a:buChar char="•"/>
            </a:pPr>
            <a:r>
              <a:rPr lang="en-US" sz="2400" dirty="0"/>
              <a:t>Participants are sampled from a population of interest</a:t>
            </a:r>
          </a:p>
        </p:txBody>
      </p:sp>
    </p:spTree>
    <p:extLst>
      <p:ext uri="{BB962C8B-B14F-4D97-AF65-F5344CB8AC3E}">
        <p14:creationId xmlns:p14="http://schemas.microsoft.com/office/powerpoint/2010/main" val="1273133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build="p"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4F8BE-EBE3-5D7C-C84E-F49E2ADDBE3C}"/>
              </a:ext>
            </a:extLst>
          </p:cNvPr>
          <p:cNvSpPr>
            <a:spLocks noGrp="1"/>
          </p:cNvSpPr>
          <p:nvPr>
            <p:ph type="title"/>
          </p:nvPr>
        </p:nvSpPr>
        <p:spPr/>
        <p:txBody>
          <a:bodyPr/>
          <a:lstStyle/>
          <a:p>
            <a:r>
              <a:rPr lang="en-US" dirty="0"/>
              <a:t>surveys</a:t>
            </a:r>
          </a:p>
        </p:txBody>
      </p:sp>
      <p:sp>
        <p:nvSpPr>
          <p:cNvPr id="3" name="Content Placeholder 2">
            <a:extLst>
              <a:ext uri="{FF2B5EF4-FFF2-40B4-BE49-F238E27FC236}">
                <a16:creationId xmlns:a16="http://schemas.microsoft.com/office/drawing/2014/main" id="{BFC5B356-DB7F-15BA-C6B8-3DA56695BE87}"/>
              </a:ext>
            </a:extLst>
          </p:cNvPr>
          <p:cNvSpPr>
            <a:spLocks noGrp="1"/>
          </p:cNvSpPr>
          <p:nvPr>
            <p:ph sz="quarter" idx="13"/>
          </p:nvPr>
        </p:nvSpPr>
        <p:spPr>
          <a:xfrm>
            <a:off x="4666926" y="841248"/>
            <a:ext cx="6260154" cy="5731002"/>
          </a:xfrm>
        </p:spPr>
        <p:txBody>
          <a:bodyPr>
            <a:normAutofit fontScale="92500" lnSpcReduction="10000"/>
          </a:bodyPr>
          <a:lstStyle/>
          <a:p>
            <a:pPr marL="285750" indent="-285750">
              <a:buFont typeface="Arial" panose="020B0604020202020204" pitchFamily="34" charset="0"/>
              <a:buChar char="•"/>
            </a:pPr>
            <a:r>
              <a:rPr lang="en-US" sz="2400" dirty="0"/>
              <a:t>The phrasing and order of questions can be important!</a:t>
            </a:r>
          </a:p>
          <a:p>
            <a:pPr marL="788670" lvl="1" indent="-285750">
              <a:buFont typeface="Arial" panose="020B0604020202020204" pitchFamily="34" charset="0"/>
              <a:buChar char="•"/>
            </a:pPr>
            <a:r>
              <a:rPr lang="en-US" sz="2400" dirty="0"/>
              <a:t>Yes/No vs. Multiple choice vs. Open-ended</a:t>
            </a:r>
          </a:p>
          <a:p>
            <a:pPr marL="788670" lvl="1" indent="-285750">
              <a:buFont typeface="Arial" panose="020B0604020202020204" pitchFamily="34" charset="0"/>
              <a:buChar char="•"/>
            </a:pPr>
            <a:r>
              <a:rPr lang="en-US" sz="2400" dirty="0"/>
              <a:t>Order of questions</a:t>
            </a:r>
          </a:p>
          <a:p>
            <a:pPr marL="788670" lvl="1" indent="-285750">
              <a:buFont typeface="Arial" panose="020B0604020202020204" pitchFamily="34" charset="0"/>
              <a:buChar char="•"/>
            </a:pPr>
            <a:r>
              <a:rPr lang="en-US" sz="2400" dirty="0"/>
              <a:t>Phrasing of questions</a:t>
            </a:r>
          </a:p>
          <a:p>
            <a:pPr marL="788670" lvl="1" indent="-285750">
              <a:buFont typeface="Arial" panose="020B0604020202020204" pitchFamily="34" charset="0"/>
              <a:buChar char="•"/>
            </a:pPr>
            <a:endParaRPr lang="en-US" sz="2400" dirty="0"/>
          </a:p>
          <a:p>
            <a:r>
              <a:rPr lang="en-US" sz="2800" dirty="0"/>
              <a:t>What’s your word for “pop”?</a:t>
            </a:r>
          </a:p>
          <a:p>
            <a:endParaRPr lang="en-US" sz="2800" dirty="0"/>
          </a:p>
          <a:p>
            <a:r>
              <a:rPr lang="en-US" sz="2800" dirty="0"/>
              <a:t>Which word do you use:  “soda” or “pop”?</a:t>
            </a:r>
          </a:p>
          <a:p>
            <a:endParaRPr lang="en-US" sz="2800" dirty="0"/>
          </a:p>
          <a:p>
            <a:r>
              <a:rPr lang="en-US" sz="2800" dirty="0"/>
              <a:t>What’s your generic term for a sweetened carbonated beverage? </a:t>
            </a:r>
          </a:p>
          <a:p>
            <a:endParaRPr lang="en-US" sz="2800" dirty="0"/>
          </a:p>
          <a:p>
            <a:endParaRPr lang="en-US" sz="2800" dirty="0"/>
          </a:p>
          <a:p>
            <a:endParaRPr lang="en-US" sz="2800" dirty="0"/>
          </a:p>
          <a:p>
            <a:pPr lvl="1" indent="0">
              <a:buNone/>
            </a:pPr>
            <a:endParaRPr lang="en-US" sz="2400" dirty="0"/>
          </a:p>
          <a:p>
            <a:pPr marL="788670" lvl="1" indent="-285750">
              <a:buFont typeface="Arial" panose="020B0604020202020204" pitchFamily="34" charset="0"/>
              <a:buChar char="•"/>
            </a:pPr>
            <a:endParaRPr lang="en-US" sz="1800" dirty="0"/>
          </a:p>
          <a:p>
            <a:pPr lvl="1" indent="0">
              <a:buNone/>
            </a:pPr>
            <a:endParaRPr lang="en-US" dirty="0"/>
          </a:p>
        </p:txBody>
      </p:sp>
      <p:pic>
        <p:nvPicPr>
          <p:cNvPr id="4" name="Picture 3" descr="Download Thumbs Down Emoji Expression | Wallpapers.com">
            <a:extLst>
              <a:ext uri="{FF2B5EF4-FFF2-40B4-BE49-F238E27FC236}">
                <a16:creationId xmlns:a16="http://schemas.microsoft.com/office/drawing/2014/main" id="{C114A2C1-D8DF-8C21-5EF5-F2013AC2E5E6}"/>
              </a:ext>
            </a:extLst>
          </p:cNvPr>
          <p:cNvPicPr>
            <a:picLocks noChangeAspect="1"/>
          </p:cNvPicPr>
          <p:nvPr/>
        </p:nvPicPr>
        <p:blipFill>
          <a:blip r:embed="rId3"/>
          <a:stretch>
            <a:fillRect/>
          </a:stretch>
        </p:blipFill>
        <p:spPr>
          <a:xfrm>
            <a:off x="8624168" y="3000375"/>
            <a:ext cx="893105" cy="857250"/>
          </a:xfrm>
          <a:prstGeom prst="rect">
            <a:avLst/>
          </a:prstGeom>
        </p:spPr>
      </p:pic>
      <p:pic>
        <p:nvPicPr>
          <p:cNvPr id="5" name="Picture 4" descr="Download Thumbs Down Emoji Expression | Wallpapers.com">
            <a:extLst>
              <a:ext uri="{FF2B5EF4-FFF2-40B4-BE49-F238E27FC236}">
                <a16:creationId xmlns:a16="http://schemas.microsoft.com/office/drawing/2014/main" id="{1EF243BA-0B64-5B40-9615-D142DC40C94C}"/>
              </a:ext>
            </a:extLst>
          </p:cNvPr>
          <p:cNvPicPr>
            <a:picLocks noChangeAspect="1"/>
          </p:cNvPicPr>
          <p:nvPr/>
        </p:nvPicPr>
        <p:blipFill>
          <a:blip r:embed="rId3"/>
          <a:stretch>
            <a:fillRect/>
          </a:stretch>
        </p:blipFill>
        <p:spPr>
          <a:xfrm>
            <a:off x="10395600" y="4021930"/>
            <a:ext cx="893105" cy="857250"/>
          </a:xfrm>
          <a:prstGeom prst="rect">
            <a:avLst/>
          </a:prstGeom>
        </p:spPr>
      </p:pic>
      <p:pic>
        <p:nvPicPr>
          <p:cNvPr id="8" name="Picture 7" descr="Check Mark Button Emoji - Symbolism and Usage">
            <a:extLst>
              <a:ext uri="{FF2B5EF4-FFF2-40B4-BE49-F238E27FC236}">
                <a16:creationId xmlns:a16="http://schemas.microsoft.com/office/drawing/2014/main" id="{16C54E84-7F3C-9ABC-66B7-353530F63D89}"/>
              </a:ext>
            </a:extLst>
          </p:cNvPr>
          <p:cNvPicPr>
            <a:picLocks noChangeAspect="1"/>
          </p:cNvPicPr>
          <p:nvPr/>
        </p:nvPicPr>
        <p:blipFill>
          <a:blip r:embed="rId4"/>
          <a:stretch>
            <a:fillRect/>
          </a:stretch>
        </p:blipFill>
        <p:spPr>
          <a:xfrm>
            <a:off x="10244919" y="5164930"/>
            <a:ext cx="1128713" cy="1693070"/>
          </a:xfrm>
          <a:prstGeom prst="rect">
            <a:avLst/>
          </a:prstGeom>
        </p:spPr>
      </p:pic>
    </p:spTree>
    <p:extLst>
      <p:ext uri="{BB962C8B-B14F-4D97-AF65-F5344CB8AC3E}">
        <p14:creationId xmlns:p14="http://schemas.microsoft.com/office/powerpoint/2010/main" val="3843949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0351E-541D-9DD2-F12E-8DD22CFC7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799D6-5027-90BF-265B-B08ECBBCD750}"/>
              </a:ext>
            </a:extLst>
          </p:cNvPr>
          <p:cNvSpPr>
            <a:spLocks noGrp="1"/>
          </p:cNvSpPr>
          <p:nvPr>
            <p:ph type="title"/>
          </p:nvPr>
        </p:nvSpPr>
        <p:spPr/>
        <p:txBody>
          <a:bodyPr/>
          <a:lstStyle/>
          <a:p>
            <a:r>
              <a:rPr lang="en-US" dirty="0"/>
              <a:t>Test your hypothesis</a:t>
            </a:r>
          </a:p>
        </p:txBody>
      </p:sp>
      <p:pic>
        <p:nvPicPr>
          <p:cNvPr id="7" name="Picture 6">
            <a:extLst>
              <a:ext uri="{FF2B5EF4-FFF2-40B4-BE49-F238E27FC236}">
                <a16:creationId xmlns:a16="http://schemas.microsoft.com/office/drawing/2014/main" id="{3FA26E7E-FA26-FB8F-1403-E7ECF33E7906}"/>
              </a:ext>
            </a:extLst>
          </p:cNvPr>
          <p:cNvPicPr>
            <a:picLocks noChangeAspect="1"/>
          </p:cNvPicPr>
          <p:nvPr/>
        </p:nvPicPr>
        <p:blipFill>
          <a:blip r:embed="rId3"/>
          <a:stretch>
            <a:fillRect/>
          </a:stretch>
        </p:blipFill>
        <p:spPr>
          <a:xfrm>
            <a:off x="731520" y="1886200"/>
            <a:ext cx="7307580" cy="4606040"/>
          </a:xfrm>
          <a:prstGeom prst="rect">
            <a:avLst/>
          </a:prstGeom>
        </p:spPr>
      </p:pic>
      <p:sp>
        <p:nvSpPr>
          <p:cNvPr id="8" name="TextBox 7">
            <a:extLst>
              <a:ext uri="{FF2B5EF4-FFF2-40B4-BE49-F238E27FC236}">
                <a16:creationId xmlns:a16="http://schemas.microsoft.com/office/drawing/2014/main" id="{45340837-263B-3EA6-AE74-5435791D7CA1}"/>
              </a:ext>
            </a:extLst>
          </p:cNvPr>
          <p:cNvSpPr txBox="1"/>
          <p:nvPr/>
        </p:nvSpPr>
        <p:spPr>
          <a:xfrm>
            <a:off x="8507730" y="2000500"/>
            <a:ext cx="2952750" cy="2585323"/>
          </a:xfrm>
          <a:prstGeom prst="rect">
            <a:avLst/>
          </a:prstGeom>
          <a:noFill/>
        </p:spPr>
        <p:txBody>
          <a:bodyPr wrap="square" rtlCol="0">
            <a:spAutoFit/>
          </a:bodyPr>
          <a:lstStyle/>
          <a:p>
            <a:r>
              <a:rPr lang="en-US" sz="2400" i="1" dirty="0"/>
              <a:t>“If a speaker is from a state in the Midwest, then they’ll be more likely to use the word “pop” to describe carbonated drinks.” </a:t>
            </a:r>
          </a:p>
          <a:p>
            <a:endParaRPr lang="en-US" dirty="0"/>
          </a:p>
        </p:txBody>
      </p:sp>
    </p:spTree>
    <p:extLst>
      <p:ext uri="{BB962C8B-B14F-4D97-AF65-F5344CB8AC3E}">
        <p14:creationId xmlns:p14="http://schemas.microsoft.com/office/powerpoint/2010/main" val="76670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BB2746-7DEB-A697-90B0-F56B4E3560BC}"/>
              </a:ext>
            </a:extLst>
          </p:cNvPr>
          <p:cNvSpPr/>
          <p:nvPr/>
        </p:nvSpPr>
        <p:spPr>
          <a:xfrm>
            <a:off x="4943475" y="630860"/>
            <a:ext cx="2305050" cy="158285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Ask a question</a:t>
            </a:r>
          </a:p>
        </p:txBody>
      </p:sp>
      <p:sp>
        <p:nvSpPr>
          <p:cNvPr id="4" name="Rectangle 3">
            <a:extLst>
              <a:ext uri="{FF2B5EF4-FFF2-40B4-BE49-F238E27FC236}">
                <a16:creationId xmlns:a16="http://schemas.microsoft.com/office/drawing/2014/main" id="{121B89EE-9860-ECED-9B9D-878EFBF9388F}"/>
              </a:ext>
            </a:extLst>
          </p:cNvPr>
          <p:cNvSpPr/>
          <p:nvPr/>
        </p:nvSpPr>
        <p:spPr>
          <a:xfrm>
            <a:off x="8165572" y="2637573"/>
            <a:ext cx="2305050" cy="158285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State a hypothesis</a:t>
            </a:r>
          </a:p>
        </p:txBody>
      </p:sp>
      <p:sp>
        <p:nvSpPr>
          <p:cNvPr id="5" name="Rectangle 4">
            <a:extLst>
              <a:ext uri="{FF2B5EF4-FFF2-40B4-BE49-F238E27FC236}">
                <a16:creationId xmlns:a16="http://schemas.microsoft.com/office/drawing/2014/main" id="{42A1E894-6EF2-F061-B370-B0CA4B747856}"/>
              </a:ext>
            </a:extLst>
          </p:cNvPr>
          <p:cNvSpPr/>
          <p:nvPr/>
        </p:nvSpPr>
        <p:spPr>
          <a:xfrm>
            <a:off x="4943475" y="4644287"/>
            <a:ext cx="2305050" cy="1582854"/>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Collect data</a:t>
            </a:r>
          </a:p>
        </p:txBody>
      </p:sp>
      <p:sp>
        <p:nvSpPr>
          <p:cNvPr id="6" name="Rectangle 5">
            <a:extLst>
              <a:ext uri="{FF2B5EF4-FFF2-40B4-BE49-F238E27FC236}">
                <a16:creationId xmlns:a16="http://schemas.microsoft.com/office/drawing/2014/main" id="{93DF184C-74BF-2309-A33A-CE8F95F0FD4C}"/>
              </a:ext>
            </a:extLst>
          </p:cNvPr>
          <p:cNvSpPr/>
          <p:nvPr/>
        </p:nvSpPr>
        <p:spPr>
          <a:xfrm>
            <a:off x="1721379" y="2637573"/>
            <a:ext cx="2305050" cy="1582854"/>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Test your hypothesis</a:t>
            </a:r>
          </a:p>
        </p:txBody>
      </p:sp>
      <p:sp>
        <p:nvSpPr>
          <p:cNvPr id="12" name="Connector: Curved 11">
            <a:extLst>
              <a:ext uri="{FF2B5EF4-FFF2-40B4-BE49-F238E27FC236}">
                <a16:creationId xmlns:a16="http://schemas.microsoft.com/office/drawing/2014/main" id="{B09D9913-81FC-4321-B43F-4E37E01452EB}"/>
              </a:ext>
            </a:extLst>
          </p:cNvPr>
          <p:cNvSpPr/>
          <p:nvPr/>
        </p:nvSpPr>
        <p:spPr>
          <a:xfrm rot="5400000">
            <a:off x="8129377" y="4379040"/>
            <a:ext cx="914400" cy="1463040"/>
          </a:xfrm>
          <a:prstGeom prst="curvedConnector2">
            <a:avLst/>
          </a:prstGeom>
          <a:solidFill>
            <a:srgbClr val="000000">
              <a:alpha val="5000"/>
            </a:srgbClr>
          </a:solidFill>
          <a:ln w="38100">
            <a:solidFill>
              <a:srgbClr val="000000"/>
            </a:solidFill>
            <a:tailEnd type="arrow"/>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a:solidFill>
                <a:srgbClr val="000000"/>
              </a:solidFill>
            </a:endParaRPr>
          </a:p>
        </p:txBody>
      </p:sp>
      <p:sp>
        <p:nvSpPr>
          <p:cNvPr id="13" name="Connector: Curved 12">
            <a:extLst>
              <a:ext uri="{FF2B5EF4-FFF2-40B4-BE49-F238E27FC236}">
                <a16:creationId xmlns:a16="http://schemas.microsoft.com/office/drawing/2014/main" id="{CC560A40-EDE6-4434-8BC7-A44AD81108C1}"/>
              </a:ext>
            </a:extLst>
          </p:cNvPr>
          <p:cNvSpPr/>
          <p:nvPr/>
        </p:nvSpPr>
        <p:spPr>
          <a:xfrm>
            <a:off x="7594200" y="1290240"/>
            <a:ext cx="1463040" cy="1097280"/>
          </a:xfrm>
          <a:prstGeom prst="curvedConnector2">
            <a:avLst/>
          </a:prstGeom>
          <a:solidFill>
            <a:srgbClr val="000000">
              <a:alpha val="5000"/>
            </a:srgbClr>
          </a:solidFill>
          <a:ln w="38100">
            <a:solidFill>
              <a:srgbClr val="000000"/>
            </a:solidFill>
            <a:tailEnd type="arrow"/>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a:solidFill>
                <a:srgbClr val="000000"/>
              </a:solidFill>
            </a:endParaRPr>
          </a:p>
        </p:txBody>
      </p:sp>
      <p:sp>
        <p:nvSpPr>
          <p:cNvPr id="48" name="Connector: Curved 12">
            <a:extLst>
              <a:ext uri="{FF2B5EF4-FFF2-40B4-BE49-F238E27FC236}">
                <a16:creationId xmlns:a16="http://schemas.microsoft.com/office/drawing/2014/main" id="{48F22BBF-F40E-679A-761D-54D9EE92913F}"/>
              </a:ext>
            </a:extLst>
          </p:cNvPr>
          <p:cNvSpPr/>
          <p:nvPr/>
        </p:nvSpPr>
        <p:spPr>
          <a:xfrm flipH="1" flipV="1">
            <a:off x="2751541" y="4403340"/>
            <a:ext cx="1846259" cy="1097280"/>
          </a:xfrm>
          <a:prstGeom prst="curvedConnector2">
            <a:avLst/>
          </a:prstGeom>
          <a:solidFill>
            <a:srgbClr val="000000">
              <a:alpha val="5000"/>
            </a:srgbClr>
          </a:solidFill>
          <a:ln w="38100">
            <a:solidFill>
              <a:srgbClr val="000000"/>
            </a:solidFill>
            <a:tailEnd type="arrow"/>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a:solidFill>
                <a:srgbClr val="000000"/>
              </a:solidFill>
            </a:endParaRPr>
          </a:p>
        </p:txBody>
      </p:sp>
      <p:sp>
        <p:nvSpPr>
          <p:cNvPr id="49" name="Connector: Curved 11">
            <a:extLst>
              <a:ext uri="{FF2B5EF4-FFF2-40B4-BE49-F238E27FC236}">
                <a16:creationId xmlns:a16="http://schemas.microsoft.com/office/drawing/2014/main" id="{87F58CE4-A4C7-EB01-E051-DF19CD5A7F4A}"/>
              </a:ext>
            </a:extLst>
          </p:cNvPr>
          <p:cNvSpPr/>
          <p:nvPr/>
        </p:nvSpPr>
        <p:spPr>
          <a:xfrm rot="5400000" flipH="1" flipV="1">
            <a:off x="2916481" y="915750"/>
            <a:ext cx="1097279" cy="1846258"/>
          </a:xfrm>
          <a:prstGeom prst="curvedConnector2">
            <a:avLst/>
          </a:prstGeom>
          <a:solidFill>
            <a:srgbClr val="000000">
              <a:alpha val="5000"/>
            </a:srgbClr>
          </a:solidFill>
          <a:ln w="3810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a:solidFill>
                <a:srgbClr val="000000"/>
              </a:solidFill>
            </a:endParaRPr>
          </a:p>
        </p:txBody>
      </p:sp>
    </p:spTree>
    <p:extLst>
      <p:ext uri="{BB962C8B-B14F-4D97-AF65-F5344CB8AC3E}">
        <p14:creationId xmlns:p14="http://schemas.microsoft.com/office/powerpoint/2010/main" val="1186837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92957-E314-35AC-8245-8DD397CFF1AD}"/>
              </a:ext>
            </a:extLst>
          </p:cNvPr>
          <p:cNvSpPr>
            <a:spLocks noGrp="1"/>
          </p:cNvSpPr>
          <p:nvPr>
            <p:ph type="title"/>
          </p:nvPr>
        </p:nvSpPr>
        <p:spPr/>
        <p:txBody>
          <a:bodyPr/>
          <a:lstStyle/>
          <a:p>
            <a:r>
              <a:rPr lang="en-US" dirty="0"/>
              <a:t>What does it mean to do research ethically?</a:t>
            </a:r>
          </a:p>
        </p:txBody>
      </p:sp>
    </p:spTree>
    <p:extLst>
      <p:ext uri="{BB962C8B-B14F-4D97-AF65-F5344CB8AC3E}">
        <p14:creationId xmlns:p14="http://schemas.microsoft.com/office/powerpoint/2010/main" val="1246594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7A78B5-19B4-8E8D-6CBC-6C9A86A1A499}"/>
              </a:ext>
            </a:extLst>
          </p:cNvPr>
          <p:cNvSpPr>
            <a:spLocks noGrp="1"/>
          </p:cNvSpPr>
          <p:nvPr>
            <p:ph type="title"/>
          </p:nvPr>
        </p:nvSpPr>
        <p:spPr/>
        <p:txBody>
          <a:bodyPr>
            <a:normAutofit/>
          </a:bodyPr>
          <a:lstStyle/>
          <a:p>
            <a:r>
              <a:rPr lang="en-US" sz="2800" dirty="0"/>
              <a:t>Milgram Experiment</a:t>
            </a:r>
          </a:p>
        </p:txBody>
      </p:sp>
      <p:pic>
        <p:nvPicPr>
          <p:cNvPr id="7" name="Online Media 6" title="Milgram experiment 1963">
            <a:hlinkClick r:id="" action="ppaction://media"/>
            <a:extLst>
              <a:ext uri="{FF2B5EF4-FFF2-40B4-BE49-F238E27FC236}">
                <a16:creationId xmlns:a16="http://schemas.microsoft.com/office/drawing/2014/main" id="{DB26816D-337B-E605-1F74-09A29DA86A6C}"/>
              </a:ext>
            </a:extLst>
          </p:cNvPr>
          <p:cNvPicPr>
            <a:picLocks noGrp="1" noRot="1" noChangeAspect="1"/>
          </p:cNvPicPr>
          <p:nvPr>
            <p:ph idx="1"/>
            <a:videoFile r:link="rId1"/>
          </p:nvPr>
        </p:nvPicPr>
        <p:blipFill>
          <a:blip r:embed="rId4"/>
          <a:stretch>
            <a:fillRect/>
          </a:stretch>
        </p:blipFill>
        <p:spPr>
          <a:xfrm>
            <a:off x="4556016" y="923120"/>
            <a:ext cx="6682345" cy="5011759"/>
          </a:xfrm>
          <a:prstGeom prst="rect">
            <a:avLst/>
          </a:prstGeom>
        </p:spPr>
      </p:pic>
      <p:sp>
        <p:nvSpPr>
          <p:cNvPr id="6" name="Text Placeholder 5">
            <a:extLst>
              <a:ext uri="{FF2B5EF4-FFF2-40B4-BE49-F238E27FC236}">
                <a16:creationId xmlns:a16="http://schemas.microsoft.com/office/drawing/2014/main" id="{BFA7F1A4-CD64-0D6C-AEEC-79C08BA1842C}"/>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t>Please continue.</a:t>
            </a:r>
          </a:p>
          <a:p>
            <a:pPr marL="285750" indent="-285750">
              <a:buFont typeface="Arial" panose="020B0604020202020204" pitchFamily="34" charset="0"/>
              <a:buChar char="•"/>
            </a:pPr>
            <a:r>
              <a:rPr lang="en-US" sz="1800" dirty="0"/>
              <a:t>Could you please continue?</a:t>
            </a:r>
          </a:p>
          <a:p>
            <a:pPr marL="285750" indent="-285750">
              <a:buFont typeface="Arial" panose="020B0604020202020204" pitchFamily="34" charset="0"/>
              <a:buChar char="•"/>
            </a:pPr>
            <a:r>
              <a:rPr lang="en-US" sz="1800" dirty="0"/>
              <a:t>Continue.</a:t>
            </a:r>
          </a:p>
          <a:p>
            <a:pPr marL="285750" indent="-285750">
              <a:buFont typeface="Arial" panose="020B0604020202020204" pitchFamily="34" charset="0"/>
              <a:buChar char="•"/>
            </a:pPr>
            <a:r>
              <a:rPr lang="en-US" sz="1800" dirty="0"/>
              <a:t>Will you continue?</a:t>
            </a:r>
          </a:p>
        </p:txBody>
      </p:sp>
      <p:sp>
        <p:nvSpPr>
          <p:cNvPr id="2" name="TextBox 1">
            <a:extLst>
              <a:ext uri="{FF2B5EF4-FFF2-40B4-BE49-F238E27FC236}">
                <a16:creationId xmlns:a16="http://schemas.microsoft.com/office/drawing/2014/main" id="{D30E5177-01DA-4843-6D48-5696298E6B80}"/>
              </a:ext>
            </a:extLst>
          </p:cNvPr>
          <p:cNvSpPr txBox="1"/>
          <p:nvPr/>
        </p:nvSpPr>
        <p:spPr>
          <a:xfrm>
            <a:off x="717755" y="6263148"/>
            <a:ext cx="3088859" cy="369332"/>
          </a:xfrm>
          <a:prstGeom prst="rect">
            <a:avLst/>
          </a:prstGeom>
          <a:noFill/>
        </p:spPr>
        <p:txBody>
          <a:bodyPr wrap="none" rtlCol="0">
            <a:spAutoFit/>
          </a:bodyPr>
          <a:lstStyle/>
          <a:p>
            <a:r>
              <a:rPr lang="en-US" b="0" i="0" u="none" strike="noStrike" dirty="0">
                <a:solidFill>
                  <a:srgbClr val="0070C0"/>
                </a:solidFill>
                <a:effectLst/>
                <a:latin typeface="YouTube Noto"/>
                <a:hlinkClick r:id="rId5">
                  <a:extLst>
                    <a:ext uri="{A12FA001-AC4F-418D-AE19-62706E023703}">
                      <ahyp:hlinkClr xmlns:ahyp="http://schemas.microsoft.com/office/drawing/2018/hyperlinkcolor" val="tx"/>
                    </a:ext>
                  </a:extLst>
                </a:hlinkClick>
              </a:rPr>
              <a:t>https://youtu.be/Kzd6Ew3TraA</a:t>
            </a:r>
            <a:endParaRPr lang="en-US" dirty="0">
              <a:solidFill>
                <a:srgbClr val="0070C0"/>
              </a:solidFill>
            </a:endParaRPr>
          </a:p>
        </p:txBody>
      </p:sp>
    </p:spTree>
    <p:extLst>
      <p:ext uri="{BB962C8B-B14F-4D97-AF65-F5344CB8AC3E}">
        <p14:creationId xmlns:p14="http://schemas.microsoft.com/office/powerpoint/2010/main" val="84847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AB6745-9A3C-F7AC-B2AE-6D7EEB256593}"/>
              </a:ext>
            </a:extLst>
          </p:cNvPr>
          <p:cNvSpPr>
            <a:spLocks noGrp="1"/>
          </p:cNvSpPr>
          <p:nvPr>
            <p:ph sz="quarter" idx="13"/>
          </p:nvPr>
        </p:nvSpPr>
        <p:spPr/>
        <p:txBody>
          <a:bodyPr/>
          <a:lstStyle/>
          <a:p>
            <a:r>
              <a:rPr lang="en-US" dirty="0"/>
              <a:t>Was this an ethical experiment? </a:t>
            </a:r>
          </a:p>
        </p:txBody>
      </p:sp>
    </p:spTree>
    <p:extLst>
      <p:ext uri="{BB962C8B-B14F-4D97-AF65-F5344CB8AC3E}">
        <p14:creationId xmlns:p14="http://schemas.microsoft.com/office/powerpoint/2010/main" val="1951315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5FC1-602B-D5C8-D5F7-AF8F40325580}"/>
              </a:ext>
            </a:extLst>
          </p:cNvPr>
          <p:cNvSpPr>
            <a:spLocks noGrp="1"/>
          </p:cNvSpPr>
          <p:nvPr>
            <p:ph type="title"/>
          </p:nvPr>
        </p:nvSpPr>
        <p:spPr/>
        <p:txBody>
          <a:bodyPr/>
          <a:lstStyle/>
          <a:p>
            <a:r>
              <a:rPr lang="en-US" dirty="0"/>
              <a:t>Milgram Experiment</a:t>
            </a:r>
          </a:p>
        </p:txBody>
      </p:sp>
      <p:sp>
        <p:nvSpPr>
          <p:cNvPr id="3" name="Content Placeholder 2">
            <a:extLst>
              <a:ext uri="{FF2B5EF4-FFF2-40B4-BE49-F238E27FC236}">
                <a16:creationId xmlns:a16="http://schemas.microsoft.com/office/drawing/2014/main" id="{ED60E471-1F8C-49C0-00C1-EE9D469E76CA}"/>
              </a:ext>
            </a:extLst>
          </p:cNvPr>
          <p:cNvSpPr>
            <a:spLocks noGrp="1"/>
          </p:cNvSpPr>
          <p:nvPr>
            <p:ph sz="half" idx="1"/>
          </p:nvPr>
        </p:nvSpPr>
        <p:spPr/>
        <p:txBody>
          <a:bodyPr anchor="t">
            <a:normAutofit/>
          </a:bodyPr>
          <a:lstStyle/>
          <a:p>
            <a:r>
              <a:rPr lang="en-US" sz="3600" dirty="0"/>
              <a:t>As conducted, is </a:t>
            </a:r>
            <a:r>
              <a:rPr lang="en-US" sz="3600" i="1" dirty="0"/>
              <a:t>unethical</a:t>
            </a:r>
            <a:r>
              <a:rPr lang="en-US" sz="3600" dirty="0"/>
              <a:t>. Why?</a:t>
            </a:r>
          </a:p>
        </p:txBody>
      </p:sp>
      <p:sp>
        <p:nvSpPr>
          <p:cNvPr id="4" name="Content Placeholder 3">
            <a:extLst>
              <a:ext uri="{FF2B5EF4-FFF2-40B4-BE49-F238E27FC236}">
                <a16:creationId xmlns:a16="http://schemas.microsoft.com/office/drawing/2014/main" id="{8B8B3B42-DE88-06EE-D4C7-9D7FA0EDC251}"/>
              </a:ext>
            </a:extLst>
          </p:cNvPr>
          <p:cNvSpPr>
            <a:spLocks noGrp="1"/>
          </p:cNvSpPr>
          <p:nvPr>
            <p:ph sz="half" idx="2"/>
          </p:nvPr>
        </p:nvSpPr>
        <p:spPr/>
        <p:txBody>
          <a:bodyPr>
            <a:normAutofit/>
          </a:bodyPr>
          <a:lstStyle/>
          <a:p>
            <a:pPr marL="285750" indent="-285750">
              <a:buFont typeface="Arial" panose="020B0604020202020204" pitchFamily="34" charset="0"/>
              <a:buChar char="•"/>
            </a:pPr>
            <a:r>
              <a:rPr lang="en-US" sz="2000" dirty="0"/>
              <a:t>Psychological harm for participants</a:t>
            </a:r>
          </a:p>
          <a:p>
            <a:pPr marL="285750" indent="-285750">
              <a:buFont typeface="Arial" panose="020B0604020202020204" pitchFamily="34" charset="0"/>
              <a:buChar char="•"/>
            </a:pPr>
            <a:r>
              <a:rPr lang="en-US" sz="2000" dirty="0"/>
              <a:t>No clear way to end the experiment</a:t>
            </a:r>
          </a:p>
          <a:p>
            <a:pPr marL="285750" indent="-285750">
              <a:buFont typeface="Arial" panose="020B0604020202020204" pitchFamily="34" charset="0"/>
              <a:buChar char="•"/>
            </a:pPr>
            <a:r>
              <a:rPr lang="en-US" sz="2000" dirty="0"/>
              <a:t>Insufficient or absent debrief after deception</a:t>
            </a:r>
          </a:p>
        </p:txBody>
      </p:sp>
    </p:spTree>
    <p:extLst>
      <p:ext uri="{BB962C8B-B14F-4D97-AF65-F5344CB8AC3E}">
        <p14:creationId xmlns:p14="http://schemas.microsoft.com/office/powerpoint/2010/main" val="2828409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70B5B-7264-37ED-BB49-87D230D99C1D}"/>
              </a:ext>
            </a:extLst>
          </p:cNvPr>
          <p:cNvSpPr>
            <a:spLocks noGrp="1"/>
          </p:cNvSpPr>
          <p:nvPr>
            <p:ph type="title"/>
          </p:nvPr>
        </p:nvSpPr>
        <p:spPr/>
        <p:txBody>
          <a:bodyPr>
            <a:normAutofit/>
          </a:bodyPr>
          <a:lstStyle/>
          <a:p>
            <a:r>
              <a:rPr lang="en-US" sz="2800" dirty="0"/>
              <a:t>William </a:t>
            </a:r>
            <a:r>
              <a:rPr lang="en-US" sz="2800" dirty="0" err="1"/>
              <a:t>Labov’s</a:t>
            </a:r>
            <a:r>
              <a:rPr lang="en-US" sz="2800" dirty="0"/>
              <a:t> Sociolinguistic Interview</a:t>
            </a:r>
          </a:p>
        </p:txBody>
      </p:sp>
      <p:pic>
        <p:nvPicPr>
          <p:cNvPr id="10" name="Content Placeholder 9">
            <a:extLst>
              <a:ext uri="{FF2B5EF4-FFF2-40B4-BE49-F238E27FC236}">
                <a16:creationId xmlns:a16="http://schemas.microsoft.com/office/drawing/2014/main" id="{467E52A3-D1B5-7875-B907-1048136F27E5}"/>
              </a:ext>
            </a:extLst>
          </p:cNvPr>
          <p:cNvPicPr>
            <a:picLocks noGrp="1" noChangeAspect="1"/>
          </p:cNvPicPr>
          <p:nvPr>
            <p:ph sz="half" idx="1"/>
          </p:nvPr>
        </p:nvPicPr>
        <p:blipFill>
          <a:blip r:embed="rId5"/>
          <a:stretch>
            <a:fillRect/>
          </a:stretch>
        </p:blipFill>
        <p:spPr>
          <a:xfrm>
            <a:off x="699660" y="2138636"/>
            <a:ext cx="7975786" cy="3210170"/>
          </a:xfrm>
        </p:spPr>
      </p:pic>
      <p:sp>
        <p:nvSpPr>
          <p:cNvPr id="11" name="TextBox 10">
            <a:extLst>
              <a:ext uri="{FF2B5EF4-FFF2-40B4-BE49-F238E27FC236}">
                <a16:creationId xmlns:a16="http://schemas.microsoft.com/office/drawing/2014/main" id="{09A95FC3-E484-0CC7-C66B-F3FA94EA4A5D}"/>
              </a:ext>
            </a:extLst>
          </p:cNvPr>
          <p:cNvSpPr txBox="1"/>
          <p:nvPr/>
        </p:nvSpPr>
        <p:spPr>
          <a:xfrm>
            <a:off x="4984408" y="6159165"/>
            <a:ext cx="7072125" cy="461665"/>
          </a:xfrm>
          <a:prstGeom prst="rect">
            <a:avLst/>
          </a:prstGeom>
          <a:noFill/>
        </p:spPr>
        <p:txBody>
          <a:bodyPr wrap="square" rtlCol="0">
            <a:spAutoFit/>
          </a:bodyPr>
          <a:lstStyle/>
          <a:p>
            <a:r>
              <a:rPr lang="en-US" sz="1200" dirty="0"/>
              <a:t>Text from: </a:t>
            </a:r>
            <a:r>
              <a:rPr lang="en-US" sz="1200" dirty="0">
                <a:solidFill>
                  <a:srgbClr val="0070C0"/>
                </a:solidFill>
              </a:rPr>
              <a:t> </a:t>
            </a:r>
            <a:r>
              <a:rPr lang="en-US" sz="1200" dirty="0">
                <a:solidFill>
                  <a:srgbClr val="0070C0"/>
                </a:solidFill>
                <a:hlinkClick r:id="rId6">
                  <a:extLst>
                    <a:ext uri="{A12FA001-AC4F-418D-AE19-62706E023703}">
                      <ahyp:hlinkClr xmlns:ahyp="http://schemas.microsoft.com/office/drawing/2018/hyperlinkcolor" val="tx"/>
                    </a:ext>
                  </a:extLst>
                </a:hlinkClick>
              </a:rPr>
              <a:t>https://www.degruyter.com/document/doi/10.1515/9781474472968-006/pdf?licenseType=restricted</a:t>
            </a:r>
            <a:r>
              <a:rPr lang="en-US" sz="1200" dirty="0">
                <a:solidFill>
                  <a:srgbClr val="0070C0"/>
                </a:solidFill>
              </a:rPr>
              <a:t> </a:t>
            </a:r>
          </a:p>
          <a:p>
            <a:r>
              <a:rPr lang="en-US" sz="1200" dirty="0"/>
              <a:t>Audio from</a:t>
            </a:r>
            <a:r>
              <a:rPr lang="en-US" sz="1200" dirty="0">
                <a:solidFill>
                  <a:srgbClr val="0070C0"/>
                </a:solidFill>
              </a:rPr>
              <a:t>: </a:t>
            </a:r>
            <a:r>
              <a:rPr lang="en-US" sz="1200" dirty="0">
                <a:solidFill>
                  <a:srgbClr val="0070C0"/>
                </a:solidFill>
                <a:latin typeface="YouTube Noto"/>
                <a:hlinkClick r:id="rId7">
                  <a:extLst>
                    <a:ext uri="{A12FA001-AC4F-418D-AE19-62706E023703}">
                      <ahyp:hlinkClr xmlns:ahyp="http://schemas.microsoft.com/office/drawing/2018/hyperlinkcolor" val="tx"/>
                    </a:ext>
                  </a:extLst>
                </a:hlinkClick>
              </a:rPr>
              <a:t>https://soundcloud.com/xander-470783300/labov-dod-recreation</a:t>
            </a:r>
            <a:endParaRPr lang="en-US" sz="1200" dirty="0">
              <a:solidFill>
                <a:srgbClr val="0070C0"/>
              </a:solidFill>
            </a:endParaRPr>
          </a:p>
        </p:txBody>
      </p:sp>
      <p:pic>
        <p:nvPicPr>
          <p:cNvPr id="5" name="WhatsApp Audio 2025-02-24 at 10.49.49 AM">
            <a:hlinkClick r:id="" action="ppaction://media"/>
            <a:extLst>
              <a:ext uri="{FF2B5EF4-FFF2-40B4-BE49-F238E27FC236}">
                <a16:creationId xmlns:a16="http://schemas.microsoft.com/office/drawing/2014/main" id="{FB9AD087-E376-371D-B3D0-7AD5F8418C7F}"/>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711463" y="353833"/>
            <a:ext cx="1764392" cy="1784803"/>
          </a:xfrm>
          <a:prstGeom prst="rect">
            <a:avLst/>
          </a:prstGeom>
          <a:solidFill>
            <a:schemeClr val="bg2"/>
          </a:solidFill>
        </p:spPr>
      </p:pic>
      <p:sp>
        <p:nvSpPr>
          <p:cNvPr id="4" name="Rectangle 3">
            <a:extLst>
              <a:ext uri="{FF2B5EF4-FFF2-40B4-BE49-F238E27FC236}">
                <a16:creationId xmlns:a16="http://schemas.microsoft.com/office/drawing/2014/main" id="{606351D5-2ECD-EDAA-4EE6-AA09244B3F7F}"/>
              </a:ext>
            </a:extLst>
          </p:cNvPr>
          <p:cNvSpPr/>
          <p:nvPr/>
        </p:nvSpPr>
        <p:spPr>
          <a:xfrm>
            <a:off x="1337733" y="5044881"/>
            <a:ext cx="2946400" cy="303924"/>
          </a:xfrm>
          <a:prstGeom prst="rect">
            <a:avLst/>
          </a:prstGeom>
          <a:solidFill>
            <a:srgbClr val="E4831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C4F98B0-D6C0-68CC-2C2E-E7DB127D79B9}"/>
              </a:ext>
            </a:extLst>
          </p:cNvPr>
          <p:cNvSpPr/>
          <p:nvPr/>
        </p:nvSpPr>
        <p:spPr>
          <a:xfrm>
            <a:off x="1337733" y="4740957"/>
            <a:ext cx="6993095" cy="303924"/>
          </a:xfrm>
          <a:prstGeom prst="rect">
            <a:avLst/>
          </a:prstGeom>
          <a:solidFill>
            <a:srgbClr val="E4831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48B11C7-BCE4-2E25-5007-667B010262E6}"/>
              </a:ext>
            </a:extLst>
          </p:cNvPr>
          <p:cNvSpPr/>
          <p:nvPr/>
        </p:nvSpPr>
        <p:spPr>
          <a:xfrm>
            <a:off x="4834280" y="4437032"/>
            <a:ext cx="3496548" cy="303924"/>
          </a:xfrm>
          <a:prstGeom prst="rect">
            <a:avLst/>
          </a:prstGeom>
          <a:solidFill>
            <a:srgbClr val="E4831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11769C9-3A6C-CD0E-3913-4CB8F4E49D79}"/>
              </a:ext>
            </a:extLst>
          </p:cNvPr>
          <p:cNvSpPr txBox="1"/>
          <p:nvPr/>
        </p:nvSpPr>
        <p:spPr>
          <a:xfrm>
            <a:off x="8873065" y="2394573"/>
            <a:ext cx="2602789" cy="3046988"/>
          </a:xfrm>
          <a:prstGeom prst="rect">
            <a:avLst/>
          </a:prstGeom>
          <a:noFill/>
        </p:spPr>
        <p:txBody>
          <a:bodyPr wrap="square">
            <a:spAutoFit/>
          </a:bodyPr>
          <a:lstStyle/>
          <a:p>
            <a:r>
              <a:rPr lang="en-US" sz="2400" dirty="0"/>
              <a:t>Can you think of a problem with this question?</a:t>
            </a:r>
          </a:p>
          <a:p>
            <a:endParaRPr lang="en-US" sz="2400" dirty="0"/>
          </a:p>
          <a:p>
            <a:r>
              <a:rPr lang="en-US" sz="2400" dirty="0"/>
              <a:t>Why might the interviewee sometimes end the interview early?</a:t>
            </a:r>
          </a:p>
        </p:txBody>
      </p:sp>
    </p:spTree>
    <p:extLst>
      <p:ext uri="{BB962C8B-B14F-4D97-AF65-F5344CB8AC3E}">
        <p14:creationId xmlns:p14="http://schemas.microsoft.com/office/powerpoint/2010/main" val="3038917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5"/>
                    </p:tgtEl>
                  </p:cond>
                </p:stCondLst>
                <p:endSync evt="end" delay="0">
                  <p:rtn val="all"/>
                </p:endSync>
                <p:childTnLst>
                  <p:par>
                    <p:cTn id="12" fill="hold">
                      <p:stCondLst>
                        <p:cond delay="0"/>
                      </p:stCondLst>
                      <p:childTnLst>
                        <p:par>
                          <p:cTn id="13" fill="hold">
                            <p:stCondLst>
                              <p:cond delay="0"/>
                            </p:stCondLst>
                            <p:childTnLst>
                              <p:par>
                                <p:cTn id="14" presetID="1" presetClass="mediacall" presetSubtype="0" fill="hold" nodeType="clickEffect">
                                  <p:stCondLst>
                                    <p:cond delay="0"/>
                                  </p:stCondLst>
                                  <p:childTnLst>
                                    <p:cmd type="call" cmd="playFrom(0.0)">
                                      <p:cBhvr>
                                        <p:cTn id="15" dur="23688" fill="hold"/>
                                        <p:tgtEl>
                                          <p:spTgt spid="5"/>
                                        </p:tgtEl>
                                      </p:cBhvr>
                                    </p:cmd>
                                  </p:childTnLst>
                                </p:cTn>
                              </p:par>
                            </p:childTnLst>
                          </p:cTn>
                        </p:par>
                      </p:childTnLst>
                    </p:cTn>
                  </p:par>
                </p:childTnLst>
              </p:cTn>
              <p:nextCondLst>
                <p:cond evt="onClick" delay="0">
                  <p:tgtEl>
                    <p:spTgt spid="5"/>
                  </p:tgtEl>
                </p:cond>
              </p:nextCondLst>
            </p:seq>
            <p:audio>
              <p:cMediaNode>
                <p:cTn id="16" fill="hold" display="0">
                  <p:stCondLst>
                    <p:cond delay="indefinite"/>
                  </p:stCondLst>
                  <p:endCondLst>
                    <p:cond evt="onStopAudio" delay="0">
                      <p:tgtEl>
                        <p:sldTgt/>
                      </p:tgtEl>
                    </p:cond>
                  </p:endCondLst>
                </p:cTn>
                <p:tgtEl>
                  <p:spTgt spid="5"/>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07570-363B-9895-456E-68A9C6BD4B57}"/>
              </a:ext>
            </a:extLst>
          </p:cNvPr>
          <p:cNvSpPr>
            <a:spLocks noGrp="1"/>
          </p:cNvSpPr>
          <p:nvPr>
            <p:ph type="title"/>
          </p:nvPr>
        </p:nvSpPr>
        <p:spPr>
          <a:xfrm>
            <a:off x="725424" y="5509260"/>
            <a:ext cx="10741152" cy="1132258"/>
          </a:xfrm>
        </p:spPr>
        <p:txBody>
          <a:bodyPr>
            <a:noAutofit/>
          </a:bodyPr>
          <a:lstStyle/>
          <a:p>
            <a:r>
              <a:rPr lang="en-US" sz="1600" dirty="0">
                <a:hlinkClick r:id="rId3"/>
              </a:rPr>
              <a:t>https://www.newyorker.com/magazine/2021/04/19/how-did-a-self-taught-linguist-come-to-own-an-indigenous-language</a:t>
            </a:r>
            <a:r>
              <a:rPr lang="en-US" sz="1600" dirty="0"/>
              <a:t> </a:t>
            </a:r>
          </a:p>
        </p:txBody>
      </p:sp>
      <p:pic>
        <p:nvPicPr>
          <p:cNvPr id="5" name="Content Placeholder 4">
            <a:extLst>
              <a:ext uri="{FF2B5EF4-FFF2-40B4-BE49-F238E27FC236}">
                <a16:creationId xmlns:a16="http://schemas.microsoft.com/office/drawing/2014/main" id="{A43070A9-E894-840C-CDF6-00815FB0B2FD}"/>
              </a:ext>
            </a:extLst>
          </p:cNvPr>
          <p:cNvPicPr>
            <a:picLocks noGrp="1" noChangeAspect="1"/>
          </p:cNvPicPr>
          <p:nvPr>
            <p:ph idx="1"/>
          </p:nvPr>
        </p:nvPicPr>
        <p:blipFill>
          <a:blip r:embed="rId4"/>
          <a:stretch>
            <a:fillRect/>
          </a:stretch>
        </p:blipFill>
        <p:spPr>
          <a:xfrm>
            <a:off x="1309668" y="311732"/>
            <a:ext cx="5511800" cy="4876800"/>
          </a:xfrm>
        </p:spPr>
      </p:pic>
      <p:pic>
        <p:nvPicPr>
          <p:cNvPr id="7" name="Picture 6">
            <a:extLst>
              <a:ext uri="{FF2B5EF4-FFF2-40B4-BE49-F238E27FC236}">
                <a16:creationId xmlns:a16="http://schemas.microsoft.com/office/drawing/2014/main" id="{66B5F776-697B-0938-1F48-65ADAC31CE95}"/>
              </a:ext>
            </a:extLst>
          </p:cNvPr>
          <p:cNvPicPr>
            <a:picLocks noChangeAspect="1"/>
          </p:cNvPicPr>
          <p:nvPr/>
        </p:nvPicPr>
        <p:blipFill>
          <a:blip r:embed="rId5"/>
          <a:stretch>
            <a:fillRect/>
          </a:stretch>
        </p:blipFill>
        <p:spPr>
          <a:xfrm>
            <a:off x="1309668" y="4761175"/>
            <a:ext cx="9059539" cy="1038370"/>
          </a:xfrm>
          <a:prstGeom prst="rect">
            <a:avLst/>
          </a:prstGeom>
        </p:spPr>
      </p:pic>
      <p:grpSp>
        <p:nvGrpSpPr>
          <p:cNvPr id="8" name="Group 7">
            <a:extLst>
              <a:ext uri="{FF2B5EF4-FFF2-40B4-BE49-F238E27FC236}">
                <a16:creationId xmlns:a16="http://schemas.microsoft.com/office/drawing/2014/main" id="{960A9C6E-1DB3-1528-7E65-454B3239DB63}"/>
              </a:ext>
            </a:extLst>
          </p:cNvPr>
          <p:cNvGrpSpPr/>
          <p:nvPr/>
        </p:nvGrpSpPr>
        <p:grpSpPr>
          <a:xfrm>
            <a:off x="7162800" y="552450"/>
            <a:ext cx="4057650" cy="2876550"/>
            <a:chOff x="7162800" y="552450"/>
            <a:chExt cx="4057650" cy="2876550"/>
          </a:xfrm>
        </p:grpSpPr>
        <p:sp>
          <p:nvSpPr>
            <p:cNvPr id="6" name="Rectangle 5">
              <a:extLst>
                <a:ext uri="{FF2B5EF4-FFF2-40B4-BE49-F238E27FC236}">
                  <a16:creationId xmlns:a16="http://schemas.microsoft.com/office/drawing/2014/main" id="{5865F426-12B3-E982-DEA4-1432B2EDC786}"/>
                </a:ext>
              </a:extLst>
            </p:cNvPr>
            <p:cNvSpPr/>
            <p:nvPr/>
          </p:nvSpPr>
          <p:spPr>
            <a:xfrm>
              <a:off x="7162800" y="552450"/>
              <a:ext cx="4057650" cy="2876550"/>
            </a:xfrm>
            <a:prstGeom prst="rect">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43B1799-713E-AA1F-1708-9947621C2950}"/>
                </a:ext>
              </a:extLst>
            </p:cNvPr>
            <p:cNvSpPr txBox="1"/>
            <p:nvPr/>
          </p:nvSpPr>
          <p:spPr>
            <a:xfrm>
              <a:off x="7467600" y="757996"/>
              <a:ext cx="3414732" cy="2308324"/>
            </a:xfrm>
            <a:prstGeom prst="rect">
              <a:avLst/>
            </a:prstGeom>
            <a:solidFill>
              <a:schemeClr val="accent5">
                <a:lumMod val="60000"/>
                <a:lumOff val="40000"/>
              </a:schemeClr>
            </a:solidFill>
          </p:spPr>
          <p:txBody>
            <a:bodyPr wrap="square" rtlCol="0">
              <a:spAutoFit/>
            </a:bodyPr>
            <a:lstStyle/>
            <a:p>
              <a:r>
                <a:rPr lang="en-US" sz="2400" dirty="0"/>
                <a:t>Who did this research stand to benefit / harm? </a:t>
              </a:r>
            </a:p>
            <a:p>
              <a:endParaRPr lang="en-US" sz="2400" dirty="0"/>
            </a:p>
            <a:p>
              <a:r>
                <a:rPr lang="en-US" sz="2400" dirty="0"/>
                <a:t>What happened to the data after the research was concluded? </a:t>
              </a:r>
            </a:p>
          </p:txBody>
        </p:sp>
      </p:grpSp>
    </p:spTree>
    <p:extLst>
      <p:ext uri="{BB962C8B-B14F-4D97-AF65-F5344CB8AC3E}">
        <p14:creationId xmlns:p14="http://schemas.microsoft.com/office/powerpoint/2010/main" val="2919394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59152-7C09-8C52-4208-8D427C16C655}"/>
              </a:ext>
            </a:extLst>
          </p:cNvPr>
          <p:cNvSpPr>
            <a:spLocks noGrp="1"/>
          </p:cNvSpPr>
          <p:nvPr>
            <p:ph type="title"/>
          </p:nvPr>
        </p:nvSpPr>
        <p:spPr>
          <a:xfrm>
            <a:off x="1949570" y="365760"/>
            <a:ext cx="9523102" cy="1132258"/>
          </a:xfrm>
        </p:spPr>
        <p:txBody>
          <a:bodyPr>
            <a:normAutofit fontScale="90000"/>
          </a:bodyPr>
          <a:lstStyle/>
          <a:p>
            <a:r>
              <a:rPr lang="en-US" dirty="0"/>
              <a:t>What do you need for ethical research?</a:t>
            </a:r>
          </a:p>
        </p:txBody>
      </p:sp>
      <p:sp>
        <p:nvSpPr>
          <p:cNvPr id="5" name="Rectangle 4">
            <a:extLst>
              <a:ext uri="{FF2B5EF4-FFF2-40B4-BE49-F238E27FC236}">
                <a16:creationId xmlns:a16="http://schemas.microsoft.com/office/drawing/2014/main" id="{35A4FD82-6AA6-5FDC-FDF7-A561DB1A8FB9}"/>
              </a:ext>
            </a:extLst>
          </p:cNvPr>
          <p:cNvSpPr/>
          <p:nvPr/>
        </p:nvSpPr>
        <p:spPr>
          <a:xfrm>
            <a:off x="1949570" y="1636821"/>
            <a:ext cx="7539486" cy="691410"/>
          </a:xfrm>
          <a:prstGeom prst="rect">
            <a:avLst/>
          </a:prstGeom>
          <a:noFill/>
          <a:ln w="57150">
            <a:solidFill>
              <a:schemeClr val="accent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Informed consent or permission to use existing data</a:t>
            </a:r>
          </a:p>
        </p:txBody>
      </p:sp>
      <p:sp>
        <p:nvSpPr>
          <p:cNvPr id="6" name="Rectangle 5">
            <a:extLst>
              <a:ext uri="{FF2B5EF4-FFF2-40B4-BE49-F238E27FC236}">
                <a16:creationId xmlns:a16="http://schemas.microsoft.com/office/drawing/2014/main" id="{67792945-CF3E-9675-7336-08DB69C6EF73}"/>
              </a:ext>
            </a:extLst>
          </p:cNvPr>
          <p:cNvSpPr/>
          <p:nvPr/>
        </p:nvSpPr>
        <p:spPr>
          <a:xfrm>
            <a:off x="1949570" y="2542830"/>
            <a:ext cx="7539486" cy="691410"/>
          </a:xfrm>
          <a:prstGeom prst="rect">
            <a:avLst/>
          </a:prstGeom>
          <a:noFill/>
          <a:ln w="5715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A plan for storing and future use of data</a:t>
            </a:r>
          </a:p>
        </p:txBody>
      </p:sp>
      <p:sp>
        <p:nvSpPr>
          <p:cNvPr id="7" name="Rectangle 6">
            <a:extLst>
              <a:ext uri="{FF2B5EF4-FFF2-40B4-BE49-F238E27FC236}">
                <a16:creationId xmlns:a16="http://schemas.microsoft.com/office/drawing/2014/main" id="{80EC09DB-3F9E-6BB1-CD24-6B431E696DD7}"/>
              </a:ext>
            </a:extLst>
          </p:cNvPr>
          <p:cNvSpPr/>
          <p:nvPr/>
        </p:nvSpPr>
        <p:spPr>
          <a:xfrm>
            <a:off x="1949570" y="3448839"/>
            <a:ext cx="7539486" cy="1006196"/>
          </a:xfrm>
          <a:prstGeom prst="rect">
            <a:avLst/>
          </a:prstGeom>
          <a:no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Minimal risk of harm to participants </a:t>
            </a:r>
            <a:r>
              <a:rPr lang="en-US" sz="2000" i="1" u="sng" dirty="0"/>
              <a:t>or</a:t>
            </a:r>
            <a:r>
              <a:rPr lang="en-US" sz="2000" dirty="0"/>
              <a:t> mitigation strategies if unavoidable </a:t>
            </a:r>
          </a:p>
        </p:txBody>
      </p:sp>
      <p:sp>
        <p:nvSpPr>
          <p:cNvPr id="8" name="Rectangle 7">
            <a:extLst>
              <a:ext uri="{FF2B5EF4-FFF2-40B4-BE49-F238E27FC236}">
                <a16:creationId xmlns:a16="http://schemas.microsoft.com/office/drawing/2014/main" id="{6297E587-059C-5811-D593-132A419D60E3}"/>
              </a:ext>
            </a:extLst>
          </p:cNvPr>
          <p:cNvSpPr/>
          <p:nvPr/>
        </p:nvSpPr>
        <p:spPr>
          <a:xfrm>
            <a:off x="1949570" y="4669634"/>
            <a:ext cx="7539486" cy="691410"/>
          </a:xfrm>
          <a:prstGeom prst="rect">
            <a:avLst/>
          </a:prstGeom>
          <a:no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Only collect the information you need to answer your question(s)</a:t>
            </a:r>
          </a:p>
        </p:txBody>
      </p:sp>
      <p:sp>
        <p:nvSpPr>
          <p:cNvPr id="9" name="Rectangle 8">
            <a:extLst>
              <a:ext uri="{FF2B5EF4-FFF2-40B4-BE49-F238E27FC236}">
                <a16:creationId xmlns:a16="http://schemas.microsoft.com/office/drawing/2014/main" id="{4369F087-BE00-2C00-EF2A-BCBB07E04E94}"/>
              </a:ext>
            </a:extLst>
          </p:cNvPr>
          <p:cNvSpPr/>
          <p:nvPr/>
        </p:nvSpPr>
        <p:spPr>
          <a:xfrm>
            <a:off x="1949570" y="5575643"/>
            <a:ext cx="7539486" cy="691410"/>
          </a:xfrm>
          <a:prstGeom prst="rect">
            <a:avLst/>
          </a:prstGeom>
          <a:noFill/>
          <a:ln w="57150">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Accountability and oversight</a:t>
            </a:r>
          </a:p>
        </p:txBody>
      </p:sp>
      <p:cxnSp>
        <p:nvCxnSpPr>
          <p:cNvPr id="13" name="Straight Connector 12">
            <a:extLst>
              <a:ext uri="{FF2B5EF4-FFF2-40B4-BE49-F238E27FC236}">
                <a16:creationId xmlns:a16="http://schemas.microsoft.com/office/drawing/2014/main" id="{52E85EFE-D0BF-979E-EA6C-D15E6643BF04}"/>
              </a:ext>
            </a:extLst>
          </p:cNvPr>
          <p:cNvCxnSpPr>
            <a:cxnSpLocks/>
          </p:cNvCxnSpPr>
          <p:nvPr/>
        </p:nvCxnSpPr>
        <p:spPr>
          <a:xfrm>
            <a:off x="719328" y="-406400"/>
            <a:ext cx="0" cy="7670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DB80265-6BBF-D25B-7FF8-1B390D1884B2}"/>
              </a:ext>
            </a:extLst>
          </p:cNvPr>
          <p:cNvSpPr/>
          <p:nvPr/>
        </p:nvSpPr>
        <p:spPr>
          <a:xfrm>
            <a:off x="582168" y="1845366"/>
            <a:ext cx="274320" cy="2743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BFD71AE-DB29-949A-59E2-9A9C576B5973}"/>
              </a:ext>
            </a:extLst>
          </p:cNvPr>
          <p:cNvSpPr/>
          <p:nvPr/>
        </p:nvSpPr>
        <p:spPr>
          <a:xfrm>
            <a:off x="575056" y="2751375"/>
            <a:ext cx="274320" cy="27432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1D3A8F4-217B-73E3-935C-90F0C13BEF06}"/>
              </a:ext>
            </a:extLst>
          </p:cNvPr>
          <p:cNvSpPr/>
          <p:nvPr/>
        </p:nvSpPr>
        <p:spPr>
          <a:xfrm>
            <a:off x="601811" y="3814777"/>
            <a:ext cx="274320" cy="27432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430DA8F-4684-DBD3-2348-677113C3E7F3}"/>
              </a:ext>
            </a:extLst>
          </p:cNvPr>
          <p:cNvSpPr/>
          <p:nvPr/>
        </p:nvSpPr>
        <p:spPr>
          <a:xfrm>
            <a:off x="570654" y="4878179"/>
            <a:ext cx="274320" cy="274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AECD554-66B4-82E4-8638-C20A368EBDE8}"/>
              </a:ext>
            </a:extLst>
          </p:cNvPr>
          <p:cNvSpPr/>
          <p:nvPr/>
        </p:nvSpPr>
        <p:spPr>
          <a:xfrm>
            <a:off x="570654" y="5784188"/>
            <a:ext cx="274320" cy="2743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247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7" grpId="0" animBg="1"/>
      <p:bldP spid="18" grpId="0" animBg="1"/>
      <p:bldP spid="19" grpId="0" animBg="1"/>
      <p:bldP spid="21" grpId="0" animBg="1"/>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5A350-2C37-683D-6A47-EA81009DE105}"/>
              </a:ext>
            </a:extLst>
          </p:cNvPr>
          <p:cNvSpPr>
            <a:spLocks noGrp="1"/>
          </p:cNvSpPr>
          <p:nvPr>
            <p:ph type="title"/>
          </p:nvPr>
        </p:nvSpPr>
        <p:spPr>
          <a:xfrm>
            <a:off x="1656272" y="365760"/>
            <a:ext cx="9816400" cy="1132258"/>
          </a:xfrm>
        </p:spPr>
        <p:txBody>
          <a:bodyPr/>
          <a:lstStyle/>
          <a:p>
            <a:r>
              <a:rPr lang="en-US" dirty="0"/>
              <a:t>Informed Consent</a:t>
            </a:r>
          </a:p>
        </p:txBody>
      </p:sp>
      <p:sp>
        <p:nvSpPr>
          <p:cNvPr id="3" name="Content Placeholder 2">
            <a:extLst>
              <a:ext uri="{FF2B5EF4-FFF2-40B4-BE49-F238E27FC236}">
                <a16:creationId xmlns:a16="http://schemas.microsoft.com/office/drawing/2014/main" id="{EE660FB5-CF47-EF19-BD39-2774350B06EF}"/>
              </a:ext>
            </a:extLst>
          </p:cNvPr>
          <p:cNvSpPr>
            <a:spLocks noGrp="1"/>
          </p:cNvSpPr>
          <p:nvPr>
            <p:ph idx="1"/>
          </p:nvPr>
        </p:nvSpPr>
        <p:spPr>
          <a:xfrm>
            <a:off x="1656272" y="1567240"/>
            <a:ext cx="9816400" cy="4925000"/>
          </a:xfrm>
        </p:spPr>
        <p:txBody>
          <a:bodyPr>
            <a:normAutofit/>
          </a:bodyPr>
          <a:lstStyle/>
          <a:p>
            <a:r>
              <a:rPr lang="en-US" sz="2400" dirty="0"/>
              <a:t>“I have a few questions to ask you about how you feel about Southern accents. The interview will be audio recorded and should take no more than 20 minutes. Your data will be confidential, and the data will be anonymized prior to storage. The data may be used in future experiments. You may withdraw your consent at any time. Do you agree to participate in the research?” </a:t>
            </a:r>
          </a:p>
        </p:txBody>
      </p:sp>
      <p:cxnSp>
        <p:nvCxnSpPr>
          <p:cNvPr id="5" name="Straight Connector 4">
            <a:extLst>
              <a:ext uri="{FF2B5EF4-FFF2-40B4-BE49-F238E27FC236}">
                <a16:creationId xmlns:a16="http://schemas.microsoft.com/office/drawing/2014/main" id="{D7A6966A-AFBD-A977-0411-F6515B742C23}"/>
              </a:ext>
            </a:extLst>
          </p:cNvPr>
          <p:cNvCxnSpPr>
            <a:cxnSpLocks/>
          </p:cNvCxnSpPr>
          <p:nvPr/>
        </p:nvCxnSpPr>
        <p:spPr>
          <a:xfrm>
            <a:off x="719328" y="-406400"/>
            <a:ext cx="0" cy="7670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06481D8-5615-CA2E-5FE0-69609BC92C66}"/>
              </a:ext>
            </a:extLst>
          </p:cNvPr>
          <p:cNvSpPr/>
          <p:nvPr/>
        </p:nvSpPr>
        <p:spPr>
          <a:xfrm>
            <a:off x="582168" y="1845366"/>
            <a:ext cx="274320" cy="2743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1222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E22DB-AA09-9AE0-3AC7-6C84BB0B7683}"/>
              </a:ext>
            </a:extLst>
          </p:cNvPr>
          <p:cNvSpPr>
            <a:spLocks noGrp="1"/>
          </p:cNvSpPr>
          <p:nvPr>
            <p:ph type="title"/>
          </p:nvPr>
        </p:nvSpPr>
        <p:spPr>
          <a:xfrm>
            <a:off x="1574800" y="365760"/>
            <a:ext cx="9897871" cy="1132258"/>
          </a:xfrm>
        </p:spPr>
        <p:txBody>
          <a:bodyPr/>
          <a:lstStyle/>
          <a:p>
            <a:r>
              <a:rPr lang="en-US" dirty="0"/>
              <a:t>Permission to Use Existing Data</a:t>
            </a:r>
          </a:p>
        </p:txBody>
      </p:sp>
      <p:sp>
        <p:nvSpPr>
          <p:cNvPr id="3" name="Content Placeholder 2">
            <a:extLst>
              <a:ext uri="{FF2B5EF4-FFF2-40B4-BE49-F238E27FC236}">
                <a16:creationId xmlns:a16="http://schemas.microsoft.com/office/drawing/2014/main" id="{39607A54-08FD-3854-602A-01EF8BFF5E09}"/>
              </a:ext>
            </a:extLst>
          </p:cNvPr>
          <p:cNvSpPr>
            <a:spLocks noGrp="1"/>
          </p:cNvSpPr>
          <p:nvPr>
            <p:ph idx="1"/>
          </p:nvPr>
        </p:nvSpPr>
        <p:spPr>
          <a:xfrm>
            <a:off x="1574799" y="1890447"/>
            <a:ext cx="7213595" cy="1831610"/>
          </a:xfrm>
        </p:spPr>
        <p:txBody>
          <a:bodyPr>
            <a:normAutofit/>
          </a:bodyPr>
          <a:lstStyle/>
          <a:p>
            <a:pPr marL="285750" indent="-285750">
              <a:buFont typeface="Arial" panose="020B0604020202020204" pitchFamily="34" charset="0"/>
              <a:buChar char="•"/>
            </a:pPr>
            <a:r>
              <a:rPr lang="en-US" sz="2400" dirty="0"/>
              <a:t>Anything that has been published is generally acceptable for academic use, </a:t>
            </a:r>
            <a:r>
              <a:rPr lang="en-US" sz="2400" i="1" dirty="0"/>
              <a:t>unless it contains other restrictions or could cause harm to private individuals</a:t>
            </a:r>
            <a:r>
              <a:rPr lang="en-US" sz="2400" dirty="0"/>
              <a:t>.</a:t>
            </a:r>
          </a:p>
        </p:txBody>
      </p:sp>
      <p:pic>
        <p:nvPicPr>
          <p:cNvPr id="9" name="Picture 8">
            <a:extLst>
              <a:ext uri="{FF2B5EF4-FFF2-40B4-BE49-F238E27FC236}">
                <a16:creationId xmlns:a16="http://schemas.microsoft.com/office/drawing/2014/main" id="{E5E74BE7-74C4-23F9-1D5F-C03BBB474F15}"/>
              </a:ext>
            </a:extLst>
          </p:cNvPr>
          <p:cNvPicPr>
            <a:picLocks noChangeAspect="1"/>
          </p:cNvPicPr>
          <p:nvPr/>
        </p:nvPicPr>
        <p:blipFill>
          <a:blip r:embed="rId3"/>
          <a:stretch>
            <a:fillRect/>
          </a:stretch>
        </p:blipFill>
        <p:spPr>
          <a:xfrm>
            <a:off x="1731601" y="3429000"/>
            <a:ext cx="4477375" cy="2152950"/>
          </a:xfrm>
          <a:prstGeom prst="rect">
            <a:avLst/>
          </a:prstGeom>
        </p:spPr>
      </p:pic>
      <p:pic>
        <p:nvPicPr>
          <p:cNvPr id="11" name="Picture 10">
            <a:extLst>
              <a:ext uri="{FF2B5EF4-FFF2-40B4-BE49-F238E27FC236}">
                <a16:creationId xmlns:a16="http://schemas.microsoft.com/office/drawing/2014/main" id="{E69972F6-01EB-6F74-E597-05FEAF13B307}"/>
              </a:ext>
            </a:extLst>
          </p:cNvPr>
          <p:cNvPicPr>
            <a:picLocks noChangeAspect="1"/>
          </p:cNvPicPr>
          <p:nvPr/>
        </p:nvPicPr>
        <p:blipFill>
          <a:blip r:embed="rId4"/>
          <a:stretch>
            <a:fillRect/>
          </a:stretch>
        </p:blipFill>
        <p:spPr>
          <a:xfrm>
            <a:off x="6208976" y="3429000"/>
            <a:ext cx="2305372" cy="2086266"/>
          </a:xfrm>
          <a:prstGeom prst="rect">
            <a:avLst/>
          </a:prstGeom>
        </p:spPr>
      </p:pic>
      <p:cxnSp>
        <p:nvCxnSpPr>
          <p:cNvPr id="5" name="Straight Connector 4">
            <a:extLst>
              <a:ext uri="{FF2B5EF4-FFF2-40B4-BE49-F238E27FC236}">
                <a16:creationId xmlns:a16="http://schemas.microsoft.com/office/drawing/2014/main" id="{3C13D0F1-BD36-0B3C-1479-C437B0DA70FC}"/>
              </a:ext>
            </a:extLst>
          </p:cNvPr>
          <p:cNvCxnSpPr>
            <a:cxnSpLocks/>
          </p:cNvCxnSpPr>
          <p:nvPr/>
        </p:nvCxnSpPr>
        <p:spPr>
          <a:xfrm>
            <a:off x="719328" y="-406400"/>
            <a:ext cx="0" cy="7670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E10C9AC-A9F1-2742-D9CE-FD23693C0873}"/>
              </a:ext>
            </a:extLst>
          </p:cNvPr>
          <p:cNvSpPr/>
          <p:nvPr/>
        </p:nvSpPr>
        <p:spPr>
          <a:xfrm>
            <a:off x="582168" y="1845366"/>
            <a:ext cx="274320" cy="2743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0925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D7C37-2BC4-4913-6708-37370712FEC9}"/>
              </a:ext>
            </a:extLst>
          </p:cNvPr>
          <p:cNvSpPr>
            <a:spLocks noGrp="1"/>
          </p:cNvSpPr>
          <p:nvPr>
            <p:ph type="title"/>
          </p:nvPr>
        </p:nvSpPr>
        <p:spPr>
          <a:xfrm>
            <a:off x="1651474" y="419066"/>
            <a:ext cx="3411973" cy="2812756"/>
          </a:xfrm>
        </p:spPr>
        <p:txBody>
          <a:bodyPr/>
          <a:lstStyle/>
          <a:p>
            <a:r>
              <a:rPr lang="en-US" dirty="0"/>
              <a:t>Data Plan</a:t>
            </a:r>
          </a:p>
        </p:txBody>
      </p:sp>
      <p:pic>
        <p:nvPicPr>
          <p:cNvPr id="7" name="Content Placeholder 6" descr="A black file cabinet with drawers&#10;&#10;AI-generated content may be incorrect.">
            <a:extLst>
              <a:ext uri="{FF2B5EF4-FFF2-40B4-BE49-F238E27FC236}">
                <a16:creationId xmlns:a16="http://schemas.microsoft.com/office/drawing/2014/main" id="{DD054087-3457-174C-586D-E67C94552465}"/>
              </a:ext>
            </a:extLst>
          </p:cNvPr>
          <p:cNvPicPr>
            <a:picLocks noGrp="1" noChangeAspect="1"/>
          </p:cNvPicPr>
          <p:nvPr>
            <p:ph idx="1"/>
          </p:nvPr>
        </p:nvPicPr>
        <p:blipFill>
          <a:blip r:embed="rId3"/>
          <a:stretch>
            <a:fillRect/>
          </a:stretch>
        </p:blipFill>
        <p:spPr>
          <a:xfrm>
            <a:off x="6173398" y="3400268"/>
            <a:ext cx="3075252" cy="3354820"/>
          </a:xfrm>
        </p:spPr>
      </p:pic>
      <p:pic>
        <p:nvPicPr>
          <p:cNvPr id="5" name="Picture 4">
            <a:extLst>
              <a:ext uri="{FF2B5EF4-FFF2-40B4-BE49-F238E27FC236}">
                <a16:creationId xmlns:a16="http://schemas.microsoft.com/office/drawing/2014/main" id="{0F51D507-E87F-7CA1-DDD4-140C01173D10}"/>
              </a:ext>
            </a:extLst>
          </p:cNvPr>
          <p:cNvPicPr>
            <a:picLocks noChangeAspect="1"/>
          </p:cNvPicPr>
          <p:nvPr/>
        </p:nvPicPr>
        <p:blipFill>
          <a:blip r:embed="rId4"/>
          <a:stretch>
            <a:fillRect/>
          </a:stretch>
        </p:blipFill>
        <p:spPr>
          <a:xfrm>
            <a:off x="2131904" y="5613081"/>
            <a:ext cx="3504392" cy="1142007"/>
          </a:xfrm>
          <a:prstGeom prst="rect">
            <a:avLst/>
          </a:prstGeom>
        </p:spPr>
      </p:pic>
      <p:pic>
        <p:nvPicPr>
          <p:cNvPr id="9" name="Picture 8" descr="A black shredder with a transparent container&#10;&#10;AI-generated content may be incorrect.">
            <a:extLst>
              <a:ext uri="{FF2B5EF4-FFF2-40B4-BE49-F238E27FC236}">
                <a16:creationId xmlns:a16="http://schemas.microsoft.com/office/drawing/2014/main" id="{7FF77063-8F6B-4148-7736-A80F89E39F1E}"/>
              </a:ext>
            </a:extLst>
          </p:cNvPr>
          <p:cNvPicPr>
            <a:picLocks noChangeAspect="1"/>
          </p:cNvPicPr>
          <p:nvPr/>
        </p:nvPicPr>
        <p:blipFill>
          <a:blip r:embed="rId5"/>
          <a:stretch>
            <a:fillRect/>
          </a:stretch>
        </p:blipFill>
        <p:spPr>
          <a:xfrm>
            <a:off x="9497548" y="3400268"/>
            <a:ext cx="2194433" cy="3407505"/>
          </a:xfrm>
          <a:prstGeom prst="rect">
            <a:avLst/>
          </a:prstGeom>
        </p:spPr>
      </p:pic>
      <p:pic>
        <p:nvPicPr>
          <p:cNvPr id="11" name="Picture 10" descr="A person holding a key in a door lock&#10;&#10;AI-generated content may be incorrect.">
            <a:extLst>
              <a:ext uri="{FF2B5EF4-FFF2-40B4-BE49-F238E27FC236}">
                <a16:creationId xmlns:a16="http://schemas.microsoft.com/office/drawing/2014/main" id="{28A0BD8B-3151-377C-EF1D-FEA004B7C5BB}"/>
              </a:ext>
            </a:extLst>
          </p:cNvPr>
          <p:cNvPicPr>
            <a:picLocks noChangeAspect="1"/>
          </p:cNvPicPr>
          <p:nvPr/>
        </p:nvPicPr>
        <p:blipFill>
          <a:blip r:embed="rId6"/>
          <a:stretch>
            <a:fillRect/>
          </a:stretch>
        </p:blipFill>
        <p:spPr>
          <a:xfrm>
            <a:off x="2848611" y="249430"/>
            <a:ext cx="3016934" cy="2007633"/>
          </a:xfrm>
          <a:prstGeom prst="rect">
            <a:avLst/>
          </a:prstGeom>
        </p:spPr>
      </p:pic>
      <p:pic>
        <p:nvPicPr>
          <p:cNvPr id="13" name="Picture 12">
            <a:extLst>
              <a:ext uri="{FF2B5EF4-FFF2-40B4-BE49-F238E27FC236}">
                <a16:creationId xmlns:a16="http://schemas.microsoft.com/office/drawing/2014/main" id="{4724887F-1737-84BB-68AC-5856069CEB03}"/>
              </a:ext>
            </a:extLst>
          </p:cNvPr>
          <p:cNvPicPr>
            <a:picLocks noChangeAspect="1"/>
          </p:cNvPicPr>
          <p:nvPr/>
        </p:nvPicPr>
        <p:blipFill>
          <a:blip r:embed="rId7"/>
          <a:stretch>
            <a:fillRect/>
          </a:stretch>
        </p:blipFill>
        <p:spPr>
          <a:xfrm>
            <a:off x="6173398" y="221888"/>
            <a:ext cx="5534797" cy="2943636"/>
          </a:xfrm>
          <a:prstGeom prst="rect">
            <a:avLst/>
          </a:prstGeom>
        </p:spPr>
      </p:pic>
      <p:pic>
        <p:nvPicPr>
          <p:cNvPr id="15" name="Picture 14" descr="A close-up of a lock and keys&#10;&#10;AI-generated content may be incorrect.">
            <a:extLst>
              <a:ext uri="{FF2B5EF4-FFF2-40B4-BE49-F238E27FC236}">
                <a16:creationId xmlns:a16="http://schemas.microsoft.com/office/drawing/2014/main" id="{694E3896-78B7-C0AF-FC57-3C74F15E9338}"/>
              </a:ext>
            </a:extLst>
          </p:cNvPr>
          <p:cNvPicPr>
            <a:picLocks noChangeAspect="1"/>
          </p:cNvPicPr>
          <p:nvPr/>
        </p:nvPicPr>
        <p:blipFill>
          <a:blip r:embed="rId8"/>
          <a:stretch>
            <a:fillRect/>
          </a:stretch>
        </p:blipFill>
        <p:spPr>
          <a:xfrm>
            <a:off x="2131906" y="3429000"/>
            <a:ext cx="3504390" cy="1971220"/>
          </a:xfrm>
          <a:prstGeom prst="rect">
            <a:avLst/>
          </a:prstGeom>
        </p:spPr>
      </p:pic>
      <p:cxnSp>
        <p:nvCxnSpPr>
          <p:cNvPr id="4" name="Straight Connector 3">
            <a:extLst>
              <a:ext uri="{FF2B5EF4-FFF2-40B4-BE49-F238E27FC236}">
                <a16:creationId xmlns:a16="http://schemas.microsoft.com/office/drawing/2014/main" id="{18572115-729C-6C70-8E6E-1E560F2441D3}"/>
              </a:ext>
            </a:extLst>
          </p:cNvPr>
          <p:cNvCxnSpPr>
            <a:cxnSpLocks/>
          </p:cNvCxnSpPr>
          <p:nvPr/>
        </p:nvCxnSpPr>
        <p:spPr>
          <a:xfrm>
            <a:off x="719328" y="-406400"/>
            <a:ext cx="0" cy="7670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B7D01CD8-8050-79BE-BCA1-A7D49124AD38}"/>
              </a:ext>
            </a:extLst>
          </p:cNvPr>
          <p:cNvSpPr/>
          <p:nvPr/>
        </p:nvSpPr>
        <p:spPr>
          <a:xfrm>
            <a:off x="575056" y="2751375"/>
            <a:ext cx="274320" cy="27432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8915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4E48F-FEED-91FC-5192-0348F107CE7D}"/>
              </a:ext>
            </a:extLst>
          </p:cNvPr>
          <p:cNvSpPr>
            <a:spLocks noGrp="1"/>
          </p:cNvSpPr>
          <p:nvPr>
            <p:ph type="title"/>
          </p:nvPr>
        </p:nvSpPr>
        <p:spPr>
          <a:xfrm>
            <a:off x="1659466" y="822960"/>
            <a:ext cx="9813205" cy="1132258"/>
          </a:xfrm>
        </p:spPr>
        <p:txBody>
          <a:bodyPr>
            <a:normAutofit fontScale="90000"/>
          </a:bodyPr>
          <a:lstStyle/>
          <a:p>
            <a:r>
              <a:rPr lang="en-US" dirty="0"/>
              <a:t>MINIMIZE RISK OF HARM TO PARTICIPANTS</a:t>
            </a:r>
          </a:p>
        </p:txBody>
      </p:sp>
      <p:cxnSp>
        <p:nvCxnSpPr>
          <p:cNvPr id="4" name="Straight Connector 3">
            <a:extLst>
              <a:ext uri="{FF2B5EF4-FFF2-40B4-BE49-F238E27FC236}">
                <a16:creationId xmlns:a16="http://schemas.microsoft.com/office/drawing/2014/main" id="{69B99A80-5D6E-3280-5327-FF484D9C1AF1}"/>
              </a:ext>
            </a:extLst>
          </p:cNvPr>
          <p:cNvCxnSpPr>
            <a:cxnSpLocks/>
          </p:cNvCxnSpPr>
          <p:nvPr/>
        </p:nvCxnSpPr>
        <p:spPr>
          <a:xfrm>
            <a:off x="719328" y="-406400"/>
            <a:ext cx="0" cy="7670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F1EC10D-8BA6-A276-2E3E-6352C28359EE}"/>
              </a:ext>
            </a:extLst>
          </p:cNvPr>
          <p:cNvCxnSpPr>
            <a:cxnSpLocks/>
          </p:cNvCxnSpPr>
          <p:nvPr/>
        </p:nvCxnSpPr>
        <p:spPr>
          <a:xfrm>
            <a:off x="719328" y="-406400"/>
            <a:ext cx="0" cy="7670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4BDAC77-13A1-C3F8-7707-289BD7977546}"/>
              </a:ext>
            </a:extLst>
          </p:cNvPr>
          <p:cNvSpPr/>
          <p:nvPr/>
        </p:nvSpPr>
        <p:spPr>
          <a:xfrm>
            <a:off x="601811" y="3814777"/>
            <a:ext cx="274320" cy="27432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Content Placeholder 9">
            <a:extLst>
              <a:ext uri="{FF2B5EF4-FFF2-40B4-BE49-F238E27FC236}">
                <a16:creationId xmlns:a16="http://schemas.microsoft.com/office/drawing/2014/main" id="{8463A437-A3F9-9925-1B68-AE993B01B088}"/>
              </a:ext>
            </a:extLst>
          </p:cNvPr>
          <p:cNvPicPr>
            <a:picLocks noChangeAspect="1"/>
          </p:cNvPicPr>
          <p:nvPr/>
        </p:nvPicPr>
        <p:blipFill>
          <a:blip r:embed="rId3"/>
          <a:stretch>
            <a:fillRect/>
          </a:stretch>
        </p:blipFill>
        <p:spPr>
          <a:xfrm>
            <a:off x="1659466" y="2687345"/>
            <a:ext cx="6283849" cy="2529183"/>
          </a:xfrm>
          <a:prstGeom prst="rect">
            <a:avLst/>
          </a:prstGeom>
        </p:spPr>
      </p:pic>
      <p:sp>
        <p:nvSpPr>
          <p:cNvPr id="21" name="Content Placeholder 3">
            <a:extLst>
              <a:ext uri="{FF2B5EF4-FFF2-40B4-BE49-F238E27FC236}">
                <a16:creationId xmlns:a16="http://schemas.microsoft.com/office/drawing/2014/main" id="{46B8B9DC-2B0C-375E-9F31-F166CD70B362}"/>
              </a:ext>
            </a:extLst>
          </p:cNvPr>
          <p:cNvSpPr txBox="1">
            <a:spLocks/>
          </p:cNvSpPr>
          <p:nvPr/>
        </p:nvSpPr>
        <p:spPr>
          <a:xfrm>
            <a:off x="8193619" y="2613764"/>
            <a:ext cx="3600190" cy="4244236"/>
          </a:xfrm>
          <a:prstGeom prst="rect">
            <a:avLst/>
          </a:prstGeom>
        </p:spPr>
        <p:txBody>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What steps might you to take to protect participants?</a:t>
            </a:r>
          </a:p>
          <a:p>
            <a:r>
              <a:rPr lang="en-US" sz="2400" dirty="0"/>
              <a:t>Can you think of an experiment where this would be a necessary question?</a:t>
            </a:r>
          </a:p>
          <a:p>
            <a:endParaRPr lang="en-US" dirty="0"/>
          </a:p>
        </p:txBody>
      </p:sp>
    </p:spTree>
    <p:extLst>
      <p:ext uri="{BB962C8B-B14F-4D97-AF65-F5344CB8AC3E}">
        <p14:creationId xmlns:p14="http://schemas.microsoft.com/office/powerpoint/2010/main" val="3065386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A4B17-A662-F389-F8C3-AD5F9EDED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B19E5-7D3F-FE6E-BE11-935F14D45720}"/>
              </a:ext>
            </a:extLst>
          </p:cNvPr>
          <p:cNvSpPr>
            <a:spLocks noGrp="1"/>
          </p:cNvSpPr>
          <p:nvPr>
            <p:ph type="title"/>
          </p:nvPr>
        </p:nvSpPr>
        <p:spPr>
          <a:xfrm>
            <a:off x="1295402" y="1489710"/>
            <a:ext cx="6324599" cy="1132258"/>
          </a:xfrm>
        </p:spPr>
        <p:txBody>
          <a:bodyPr>
            <a:normAutofit fontScale="90000"/>
          </a:bodyPr>
          <a:lstStyle/>
          <a:p>
            <a:r>
              <a:rPr lang="en-US" dirty="0"/>
              <a:t>Only Collect Necessary Information</a:t>
            </a:r>
          </a:p>
        </p:txBody>
      </p:sp>
      <p:cxnSp>
        <p:nvCxnSpPr>
          <p:cNvPr id="4" name="Straight Connector 3">
            <a:extLst>
              <a:ext uri="{FF2B5EF4-FFF2-40B4-BE49-F238E27FC236}">
                <a16:creationId xmlns:a16="http://schemas.microsoft.com/office/drawing/2014/main" id="{F5897120-0A67-1F9E-B373-19FD99E71520}"/>
              </a:ext>
            </a:extLst>
          </p:cNvPr>
          <p:cNvCxnSpPr>
            <a:cxnSpLocks/>
          </p:cNvCxnSpPr>
          <p:nvPr/>
        </p:nvCxnSpPr>
        <p:spPr>
          <a:xfrm>
            <a:off x="719328" y="-406400"/>
            <a:ext cx="0" cy="7670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6E5564F-3FA5-D6C4-EDE3-DBEE461BCC3A}"/>
              </a:ext>
            </a:extLst>
          </p:cNvPr>
          <p:cNvSpPr/>
          <p:nvPr/>
        </p:nvSpPr>
        <p:spPr>
          <a:xfrm>
            <a:off x="570654" y="4878179"/>
            <a:ext cx="274320" cy="2743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The Language of Life and Death: The Transformation of Experience in ...">
            <a:extLst>
              <a:ext uri="{FF2B5EF4-FFF2-40B4-BE49-F238E27FC236}">
                <a16:creationId xmlns:a16="http://schemas.microsoft.com/office/drawing/2014/main" id="{A1067633-8C23-7AA8-763E-36A2ABE8FB69}"/>
              </a:ext>
            </a:extLst>
          </p:cNvPr>
          <p:cNvPicPr>
            <a:picLocks noChangeAspect="1"/>
          </p:cNvPicPr>
          <p:nvPr/>
        </p:nvPicPr>
        <p:blipFill>
          <a:blip r:embed="rId3"/>
          <a:stretch>
            <a:fillRect/>
          </a:stretch>
        </p:blipFill>
        <p:spPr>
          <a:xfrm>
            <a:off x="7305016" y="535781"/>
            <a:ext cx="3591582" cy="5786438"/>
          </a:xfrm>
          <a:prstGeom prst="rect">
            <a:avLst/>
          </a:prstGeom>
        </p:spPr>
      </p:pic>
      <p:pic>
        <p:nvPicPr>
          <p:cNvPr id="12" name="Content Placeholder 9">
            <a:extLst>
              <a:ext uri="{FF2B5EF4-FFF2-40B4-BE49-F238E27FC236}">
                <a16:creationId xmlns:a16="http://schemas.microsoft.com/office/drawing/2014/main" id="{9AD5734C-AF8D-5965-2ABF-1B488EC87F23}"/>
              </a:ext>
            </a:extLst>
          </p:cNvPr>
          <p:cNvPicPr>
            <a:picLocks noChangeAspect="1"/>
          </p:cNvPicPr>
          <p:nvPr/>
        </p:nvPicPr>
        <p:blipFill>
          <a:blip r:embed="rId4"/>
          <a:stretch>
            <a:fillRect/>
          </a:stretch>
        </p:blipFill>
        <p:spPr>
          <a:xfrm>
            <a:off x="1336152" y="2839107"/>
            <a:ext cx="6283849" cy="2529183"/>
          </a:xfrm>
          <a:prstGeom prst="rect">
            <a:avLst/>
          </a:prstGeom>
        </p:spPr>
      </p:pic>
    </p:spTree>
    <p:extLst>
      <p:ext uri="{BB962C8B-B14F-4D97-AF65-F5344CB8AC3E}">
        <p14:creationId xmlns:p14="http://schemas.microsoft.com/office/powerpoint/2010/main" val="655942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4C713-A408-481E-8C6F-0673BFFCE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1E08C-E35A-1997-0C5C-2AD4EB39B97F}"/>
              </a:ext>
            </a:extLst>
          </p:cNvPr>
          <p:cNvSpPr>
            <a:spLocks noGrp="1"/>
          </p:cNvSpPr>
          <p:nvPr>
            <p:ph type="title"/>
          </p:nvPr>
        </p:nvSpPr>
        <p:spPr>
          <a:xfrm>
            <a:off x="1314450" y="708660"/>
            <a:ext cx="10463021" cy="1132258"/>
          </a:xfrm>
        </p:spPr>
        <p:txBody>
          <a:bodyPr>
            <a:normAutofit/>
          </a:bodyPr>
          <a:lstStyle/>
          <a:p>
            <a:r>
              <a:rPr lang="en-US" dirty="0"/>
              <a:t>ACCOUNTABILITY AND oversight</a:t>
            </a:r>
          </a:p>
        </p:txBody>
      </p:sp>
      <p:cxnSp>
        <p:nvCxnSpPr>
          <p:cNvPr id="4" name="Straight Connector 3">
            <a:extLst>
              <a:ext uri="{FF2B5EF4-FFF2-40B4-BE49-F238E27FC236}">
                <a16:creationId xmlns:a16="http://schemas.microsoft.com/office/drawing/2014/main" id="{48AC90D6-97A0-8CE8-3C3A-AFF8C743264F}"/>
              </a:ext>
            </a:extLst>
          </p:cNvPr>
          <p:cNvCxnSpPr>
            <a:cxnSpLocks/>
          </p:cNvCxnSpPr>
          <p:nvPr/>
        </p:nvCxnSpPr>
        <p:spPr>
          <a:xfrm>
            <a:off x="719328" y="-406400"/>
            <a:ext cx="0" cy="7670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Content Placeholder 5" descr="A blue and yellow website with a sign&#10;&#10;AI-generated content may be incorrect.">
            <a:extLst>
              <a:ext uri="{FF2B5EF4-FFF2-40B4-BE49-F238E27FC236}">
                <a16:creationId xmlns:a16="http://schemas.microsoft.com/office/drawing/2014/main" id="{68507445-934E-586E-0DD8-8959EDD3A442}"/>
              </a:ext>
            </a:extLst>
          </p:cNvPr>
          <p:cNvPicPr>
            <a:picLocks noGrp="1" noChangeAspect="1"/>
          </p:cNvPicPr>
          <p:nvPr>
            <p:ph sz="half" idx="1"/>
          </p:nvPr>
        </p:nvPicPr>
        <p:blipFill>
          <a:blip r:embed="rId3"/>
          <a:stretch>
            <a:fillRect/>
          </a:stretch>
        </p:blipFill>
        <p:spPr>
          <a:xfrm>
            <a:off x="1597597" y="2308548"/>
            <a:ext cx="3454235" cy="1804838"/>
          </a:xfrm>
        </p:spPr>
      </p:pic>
      <p:pic>
        <p:nvPicPr>
          <p:cNvPr id="5" name="Content Placeholder 7" descr="A blue background with white text&#10;&#10;AI-generated content may be incorrect.">
            <a:extLst>
              <a:ext uri="{FF2B5EF4-FFF2-40B4-BE49-F238E27FC236}">
                <a16:creationId xmlns:a16="http://schemas.microsoft.com/office/drawing/2014/main" id="{09A36D7B-23CE-58FB-7B2E-53607FE70C54}"/>
              </a:ext>
            </a:extLst>
          </p:cNvPr>
          <p:cNvPicPr>
            <a:picLocks noChangeAspect="1"/>
          </p:cNvPicPr>
          <p:nvPr/>
        </p:nvPicPr>
        <p:blipFill>
          <a:blip r:embed="rId4"/>
          <a:stretch>
            <a:fillRect/>
          </a:stretch>
        </p:blipFill>
        <p:spPr>
          <a:xfrm>
            <a:off x="1597597" y="4448531"/>
            <a:ext cx="3464844" cy="1804838"/>
          </a:xfrm>
          <a:prstGeom prst="rect">
            <a:avLst/>
          </a:prstGeom>
        </p:spPr>
      </p:pic>
      <p:pic>
        <p:nvPicPr>
          <p:cNvPr id="6" name="Picture 5" descr="A head with gears and text&#10;&#10;AI-generated content may be incorrect.">
            <a:extLst>
              <a:ext uri="{FF2B5EF4-FFF2-40B4-BE49-F238E27FC236}">
                <a16:creationId xmlns:a16="http://schemas.microsoft.com/office/drawing/2014/main" id="{0AF67E88-C1AE-2574-9A11-90A1D5C3C047}"/>
              </a:ext>
            </a:extLst>
          </p:cNvPr>
          <p:cNvPicPr>
            <a:picLocks noChangeAspect="1"/>
          </p:cNvPicPr>
          <p:nvPr/>
        </p:nvPicPr>
        <p:blipFill>
          <a:blip r:embed="rId5"/>
          <a:stretch>
            <a:fillRect/>
          </a:stretch>
        </p:blipFill>
        <p:spPr>
          <a:xfrm>
            <a:off x="5793847" y="2137934"/>
            <a:ext cx="3293004" cy="1380017"/>
          </a:xfrm>
          <a:prstGeom prst="rect">
            <a:avLst/>
          </a:prstGeom>
        </p:spPr>
      </p:pic>
      <p:pic>
        <p:nvPicPr>
          <p:cNvPr id="7" name="Picture 6" descr="A diagram of a person climbing a ladder&#10;&#10;AI-generated content may be incorrect.">
            <a:extLst>
              <a:ext uri="{FF2B5EF4-FFF2-40B4-BE49-F238E27FC236}">
                <a16:creationId xmlns:a16="http://schemas.microsoft.com/office/drawing/2014/main" id="{AAEF561D-FD55-CDB2-F967-78CC37F3C9FA}"/>
              </a:ext>
            </a:extLst>
          </p:cNvPr>
          <p:cNvPicPr>
            <a:picLocks noChangeAspect="1"/>
          </p:cNvPicPr>
          <p:nvPr/>
        </p:nvPicPr>
        <p:blipFill>
          <a:blip r:embed="rId6"/>
          <a:stretch>
            <a:fillRect/>
          </a:stretch>
        </p:blipFill>
        <p:spPr>
          <a:xfrm>
            <a:off x="7047961" y="3377946"/>
            <a:ext cx="4729510" cy="3278274"/>
          </a:xfrm>
          <a:prstGeom prst="rect">
            <a:avLst/>
          </a:prstGeom>
        </p:spPr>
      </p:pic>
      <p:sp>
        <p:nvSpPr>
          <p:cNvPr id="9" name="Rectangle 8">
            <a:extLst>
              <a:ext uri="{FF2B5EF4-FFF2-40B4-BE49-F238E27FC236}">
                <a16:creationId xmlns:a16="http://schemas.microsoft.com/office/drawing/2014/main" id="{5D1B1F95-D457-C415-0C5E-97E320E69B86}"/>
              </a:ext>
            </a:extLst>
          </p:cNvPr>
          <p:cNvSpPr/>
          <p:nvPr/>
        </p:nvSpPr>
        <p:spPr>
          <a:xfrm>
            <a:off x="570654" y="5784188"/>
            <a:ext cx="274320" cy="2743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2628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7DB7F1-C290-6497-80E9-BDC05AB4CEF3}"/>
              </a:ext>
            </a:extLst>
          </p:cNvPr>
          <p:cNvSpPr/>
          <p:nvPr/>
        </p:nvSpPr>
        <p:spPr>
          <a:xfrm>
            <a:off x="6096000" y="2106386"/>
            <a:ext cx="5181600" cy="413538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6DF542-7FC4-F7F2-A40D-9A1182368DA2}"/>
              </a:ext>
            </a:extLst>
          </p:cNvPr>
          <p:cNvSpPr>
            <a:spLocks noGrp="1"/>
          </p:cNvSpPr>
          <p:nvPr>
            <p:ph type="title"/>
          </p:nvPr>
        </p:nvSpPr>
        <p:spPr/>
        <p:txBody>
          <a:bodyPr/>
          <a:lstStyle/>
          <a:p>
            <a:r>
              <a:rPr lang="en-US" dirty="0"/>
              <a:t>Attendance question</a:t>
            </a:r>
          </a:p>
        </p:txBody>
      </p:sp>
      <p:sp>
        <p:nvSpPr>
          <p:cNvPr id="3" name="Content Placeholder 2">
            <a:extLst>
              <a:ext uri="{FF2B5EF4-FFF2-40B4-BE49-F238E27FC236}">
                <a16:creationId xmlns:a16="http://schemas.microsoft.com/office/drawing/2014/main" id="{1811AB77-9AFC-52C2-F166-C18BD0C90C15}"/>
              </a:ext>
            </a:extLst>
          </p:cNvPr>
          <p:cNvSpPr>
            <a:spLocks noGrp="1"/>
          </p:cNvSpPr>
          <p:nvPr>
            <p:ph sz="quarter" idx="15"/>
          </p:nvPr>
        </p:nvSpPr>
        <p:spPr/>
        <p:txBody>
          <a:bodyPr>
            <a:normAutofit/>
          </a:bodyPr>
          <a:lstStyle/>
          <a:p>
            <a:r>
              <a:rPr lang="en-US" sz="2400" dirty="0"/>
              <a:t>What demographic information would you need from survey participants to answer the question “Where, exactly, do people use different words for a carbonated beverage?”</a:t>
            </a:r>
          </a:p>
        </p:txBody>
      </p:sp>
      <p:sp>
        <p:nvSpPr>
          <p:cNvPr id="4" name="Content Placeholder 3">
            <a:extLst>
              <a:ext uri="{FF2B5EF4-FFF2-40B4-BE49-F238E27FC236}">
                <a16:creationId xmlns:a16="http://schemas.microsoft.com/office/drawing/2014/main" id="{B7624A8F-1964-B044-DBD1-A8C449AC12BB}"/>
              </a:ext>
            </a:extLst>
          </p:cNvPr>
          <p:cNvSpPr>
            <a:spLocks noGrp="1"/>
          </p:cNvSpPr>
          <p:nvPr>
            <p:ph sz="quarter" idx="16"/>
          </p:nvPr>
        </p:nvSpPr>
        <p:spPr>
          <a:xfrm>
            <a:off x="6284947" y="3020786"/>
            <a:ext cx="5181600" cy="3433672"/>
          </a:xfrm>
        </p:spPr>
        <p:txBody>
          <a:bodyPr/>
          <a:lstStyle/>
          <a:p>
            <a:pPr marL="342900" indent="-342900">
              <a:buFont typeface="Arial" panose="020B0604020202020204" pitchFamily="34" charset="0"/>
              <a:buChar char="•"/>
            </a:pPr>
            <a:r>
              <a:rPr lang="en-US" sz="2400" dirty="0"/>
              <a:t>Midterm assignments due October 19</a:t>
            </a:r>
            <a:r>
              <a:rPr lang="en-US" sz="2400" baseline="30000" dirty="0"/>
              <a:t>th</a:t>
            </a:r>
            <a:endParaRPr lang="en-US" sz="2400" dirty="0"/>
          </a:p>
          <a:p>
            <a:pPr marL="845820" lvl="1" indent="-342900">
              <a:buFont typeface="Arial" panose="020B0604020202020204" pitchFamily="34" charset="0"/>
              <a:buChar char="•"/>
            </a:pPr>
            <a:r>
              <a:rPr lang="en-US" sz="2000" dirty="0"/>
              <a:t>Data Collection</a:t>
            </a:r>
          </a:p>
          <a:p>
            <a:pPr marL="845820" lvl="1" indent="-342900">
              <a:buFont typeface="Arial" panose="020B0604020202020204" pitchFamily="34" charset="0"/>
              <a:buChar char="•"/>
            </a:pPr>
            <a:r>
              <a:rPr lang="en-US" sz="2000" dirty="0"/>
              <a:t>Questions about Methods and Ethics</a:t>
            </a:r>
            <a:endParaRPr lang="en-US" sz="2200" dirty="0"/>
          </a:p>
          <a:p>
            <a:pPr marL="342900" indent="-342900">
              <a:buFont typeface="Arial" panose="020B0604020202020204" pitchFamily="34" charset="0"/>
              <a:buChar char="•"/>
            </a:pPr>
            <a:r>
              <a:rPr lang="en-US" sz="2400" dirty="0"/>
              <a:t>New module:</a:t>
            </a:r>
            <a:r>
              <a:rPr lang="en-US" sz="2200" dirty="0"/>
              <a:t> Language in the World</a:t>
            </a:r>
          </a:p>
          <a:p>
            <a:pPr marL="845820" lvl="1" indent="-342900">
              <a:buFont typeface="Arial" panose="020B0604020202020204" pitchFamily="34" charset="0"/>
              <a:buChar char="•"/>
            </a:pPr>
            <a:r>
              <a:rPr lang="en-US" sz="2000" dirty="0"/>
              <a:t>Wednesday: How do kids learn to talk?</a:t>
            </a:r>
          </a:p>
          <a:p>
            <a:pPr marL="845820" lvl="1" indent="-342900">
              <a:buFont typeface="Arial" panose="020B0604020202020204" pitchFamily="34" charset="0"/>
              <a:buChar char="•"/>
            </a:pPr>
            <a:endParaRPr lang="en-US" sz="2200" dirty="0"/>
          </a:p>
        </p:txBody>
      </p:sp>
      <p:sp>
        <p:nvSpPr>
          <p:cNvPr id="6" name="Title 1">
            <a:extLst>
              <a:ext uri="{FF2B5EF4-FFF2-40B4-BE49-F238E27FC236}">
                <a16:creationId xmlns:a16="http://schemas.microsoft.com/office/drawing/2014/main" id="{DD0AECB4-6D47-E1F2-CCF3-C4E05EE706D4}"/>
              </a:ext>
            </a:extLst>
          </p:cNvPr>
          <p:cNvSpPr txBox="1">
            <a:spLocks/>
          </p:cNvSpPr>
          <p:nvPr/>
        </p:nvSpPr>
        <p:spPr>
          <a:xfrm>
            <a:off x="6284947" y="1965817"/>
            <a:ext cx="3446882" cy="97985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a:lstStyle>
          <a:p>
            <a:r>
              <a:rPr lang="en-US" sz="3600" dirty="0"/>
              <a:t>What’s next?</a:t>
            </a:r>
          </a:p>
        </p:txBody>
      </p:sp>
    </p:spTree>
    <p:extLst>
      <p:ext uri="{BB962C8B-B14F-4D97-AF65-F5344CB8AC3E}">
        <p14:creationId xmlns:p14="http://schemas.microsoft.com/office/powerpoint/2010/main" val="24065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uiExpand="1" build="p"/>
      <p:bldP spid="6" grpId="0"/>
    </p:bldLst>
  </p:timing>
</p:sld>
</file>

<file path=ppt/theme/theme1.xml><?xml version="1.0" encoding="utf-8"?>
<a:theme xmlns:a="http://schemas.openxmlformats.org/drawingml/2006/main" name="Archway">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FF477C-132F-44F8-8C56-EBFF95FAF97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F36CB81-A037-44A8-88EB-C0C0F17FD4B1}">
  <ds:schemaRefs>
    <ds:schemaRef ds:uri="http://schemas.microsoft.com/sharepoint/v3/contenttype/forms"/>
  </ds:schemaRefs>
</ds:datastoreItem>
</file>

<file path=customXml/itemProps3.xml><?xml version="1.0" encoding="utf-8"?>
<ds:datastoreItem xmlns:ds="http://schemas.openxmlformats.org/officeDocument/2006/customXml" ds:itemID="{2C1AA24C-4CA6-40FF-8947-DA1F6F4745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Archway</Template>
  <TotalTime>4569</TotalTime>
  <Words>1764</Words>
  <Application>Microsoft Macintosh PowerPoint</Application>
  <PresentationFormat>Widescreen</PresentationFormat>
  <Paragraphs>242</Paragraphs>
  <Slides>24</Slides>
  <Notes>20</Notes>
  <HiddenSlides>0</HiddenSlides>
  <MMClips>3</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Felix Titling</vt:lpstr>
      <vt:lpstr>Goudy Old Style</vt:lpstr>
      <vt:lpstr>Wingdings</vt:lpstr>
      <vt:lpstr>YouTube Noto</vt:lpstr>
      <vt:lpstr>Archway</vt:lpstr>
      <vt:lpstr>What Methods and ethics of Inquiry are used in linguistics research?</vt:lpstr>
      <vt:lpstr>This is really two questions:</vt:lpstr>
      <vt:lpstr>LING LINK:   THINK BACK TO THE FIRST SPOTLIGHT LECTURE</vt:lpstr>
      <vt:lpstr>Methods: How do we answer questions?</vt:lpstr>
      <vt:lpstr>Where, exactly, do people use different words for a carbonated beverage?</vt:lpstr>
      <vt:lpstr>State a hypothesis</vt:lpstr>
      <vt:lpstr>Methods of collecting data: </vt:lpstr>
      <vt:lpstr>surveys</vt:lpstr>
      <vt:lpstr>Test your hypothesis</vt:lpstr>
      <vt:lpstr>PowerPoint Presentation</vt:lpstr>
      <vt:lpstr>What does it mean to do research ethically?</vt:lpstr>
      <vt:lpstr>Milgram Experiment</vt:lpstr>
      <vt:lpstr>PowerPoint Presentation</vt:lpstr>
      <vt:lpstr>Milgram Experiment</vt:lpstr>
      <vt:lpstr>William Labov’s Sociolinguistic Interview</vt:lpstr>
      <vt:lpstr>https://www.newyorker.com/magazine/2021/04/19/how-did-a-self-taught-linguist-come-to-own-an-indigenous-language </vt:lpstr>
      <vt:lpstr>What do you need for ethical research?</vt:lpstr>
      <vt:lpstr>Informed Consent</vt:lpstr>
      <vt:lpstr>Permission to Use Existing Data</vt:lpstr>
      <vt:lpstr>Data Plan</vt:lpstr>
      <vt:lpstr>MINIMIZE RISK OF HARM TO PARTICIPANTS</vt:lpstr>
      <vt:lpstr>Only Collect Necessary Information</vt:lpstr>
      <vt:lpstr>ACCOUNTABILITY AND oversight</vt:lpstr>
      <vt:lpstr>Attendance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Xander Johnson</dc:creator>
  <cp:lastModifiedBy>Grace Anderson</cp:lastModifiedBy>
  <cp:revision>12</cp:revision>
  <dcterms:created xsi:type="dcterms:W3CDTF">2025-02-23T16:15:51Z</dcterms:created>
  <dcterms:modified xsi:type="dcterms:W3CDTF">2026-10-10T20:33:02Z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